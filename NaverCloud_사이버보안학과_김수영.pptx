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25" d="100"/>
          <a:sy n="25" d="100"/>
        </p:scale>
        <p:origin x="2820" y="1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94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올해 7월, 공유 링크가 검색엔진에 노출된 사고가 있었습니다. 원인은 robots.txt와 noindex 지시가 서로 충돌한 구성이었습니다.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 확인한 사례 두 건입니다. 하나는 실제로 유효한 지갑 비밀키, 하나는 회사 세 곳의 워크숍 제안서였습니다.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키워드를 교육과 비즈니스로 나눠 집계했습니다. 비즈니스는 조직 단위 문서, 교육은 개인 단위 정보가 주로 노출됐습니다.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조사 과정이 전부 수작업이었습니다. 크롤러로 일부를 자동화했지만 판정은 매번 사람이 다시 봐야 했고, 그 반복을 도구로 만든 것이 이 스캐너입니다.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스캐너가 하는 일은 네 단계입니다. 페이지를 가져오고, 글자만 남기고, 규칙과 대조하고, 찾은 값을 가려서 저장합니다.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규칙은 두 묶음, 총 일곱 개입니다. 공개 공유 페이지의 개인정보 여섯 개와, 페이지 소스에 박힌 인증정보 하나입니다.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스캐너 자체가 민감정보를 다시 노출하면 안 되기 때문에, 찾은 값은 즉시 가리고 예시로 보이는 값은 심각도를 한 단계 내립니다.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화면입니다. URL을 넣고 시작합니다. 오른쪽에 마지막 스캔 기록, 아래에 현재 걸려 있는 규칙 수가 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무엇을 찾을지 고르는 화면입니다. 규칙마다 기본 심각도가 배지로 붙어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스캔이 도는 동안 진행률과 로그가 흐르고, 심각도별 건수가 실시간으로 쌓입니다.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결과는 여덟 건. 증거는 이미 가려진 상태로 표에 들어옵니다. 심각도와 규칙셋으로 필터할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건을 열면 왜 위험한지, 무엇을 해야 하는지가 함께 나옵니다. 여기까지가 스캐너의 전체 흐름입니다.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7F9FA">
                  <a:alpha val="100000"/>
                </a:srgbClr>
              </a:gs>
              <a:gs pos="40000">
                <a:srgbClr val="FBFBFB">
                  <a:alpha val="100000"/>
                </a:srgbClr>
              </a:gs>
              <a:gs pos="100000">
                <a:srgbClr val="E7EDF3">
                  <a:alpha val="100000"/>
                </a:srgbClr>
              </a:gs>
            </a:gsLst>
            <a:lin ang="39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143000" y="1047750"/>
            <a:ext cx="544295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RULE-BASED EXPOSURE SCANNER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4579303" y="1047750"/>
            <a:ext cx="28222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 · 08 · 22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2328168"/>
            <a:ext cx="17602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공유 링크 민감정보 스캐너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3039368"/>
            <a:ext cx="16482060" cy="30525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5209"/>
              </a:lnSpc>
              <a:buNone/>
            </a:pPr>
            <a:r>
              <a:rPr lang="en-US" sz="12900" b="1" kern="0" spc="-580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Swimmmming pool scaNNer</a:t>
            </a:r>
            <a:endParaRPr lang="en-US" sz="12900" dirty="0"/>
          </a:p>
        </p:txBody>
      </p:sp>
      <p:sp>
        <p:nvSpPr>
          <p:cNvPr id="7" name="Text 5"/>
          <p:cNvSpPr/>
          <p:nvPr/>
        </p:nvSpPr>
        <p:spPr>
          <a:xfrm>
            <a:off x="1143000" y="6415782"/>
            <a:ext cx="10791825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268"/>
              </a:lnSpc>
              <a:buNone/>
            </a:pPr>
            <a:r>
              <a:rPr lang="en-US" sz="2850" dirty="0">
                <a:solidFill>
                  <a:srgbClr val="4B5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공개된 공유 페이지에 남아 있는 개인정보와 인증정보를, 규칙으로 찾아서 가려주는 스캐너.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143000" y="8458200"/>
            <a:ext cx="1535172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PRESENTER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43000" y="8826500"/>
            <a:ext cx="1535172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B74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김수영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148211" y="8458200"/>
            <a:ext cx="387613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BUILT 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148211" y="8826500"/>
            <a:ext cx="387613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B74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 · Express · 규칙 7개</a:t>
            </a:r>
            <a:endParaRPr lang="en-US" sz="225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DB775D33-5232-F904-2155-1B73EB5FBC38}"/>
              </a:ext>
            </a:extLst>
          </p:cNvPr>
          <p:cNvSpPr/>
          <p:nvPr/>
        </p:nvSpPr>
        <p:spPr>
          <a:xfrm>
            <a:off x="1143000" y="11734800"/>
            <a:ext cx="8540909" cy="1327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900" b="1" kern="0" spc="-241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직접 확인한 노출 사례</a:t>
            </a:r>
            <a:endParaRPr lang="en-US" sz="69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FA9BE4DE-7308-03E6-8B8C-6B4C02996AE8}"/>
              </a:ext>
            </a:extLst>
          </p:cNvPr>
          <p:cNvSpPr/>
          <p:nvPr/>
        </p:nvSpPr>
        <p:spPr>
          <a:xfrm>
            <a:off x="13930809" y="12515850"/>
            <a:ext cx="353561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CONFIRMED · 2 CASES</a:t>
            </a:r>
            <a:endParaRPr lang="en-US" sz="180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19FF523D-E302-71BD-E47F-721114352964}"/>
              </a:ext>
            </a:extLst>
          </p:cNvPr>
          <p:cNvSpPr/>
          <p:nvPr/>
        </p:nvSpPr>
        <p:spPr>
          <a:xfrm>
            <a:off x="1143000" y="13519150"/>
            <a:ext cx="7791450" cy="667385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6350">
            <a:solidFill>
              <a:srgbClr val="000000">
                <a:alpha val="7000"/>
              </a:srgbClr>
            </a:solidFill>
            <a:prstDash val="solid"/>
          </a:ln>
          <a:effectLst>
            <a:outerShdw blurRad="666750" dist="285750" dir="5400000" algn="bl" rotWithShape="0">
              <a:srgbClr val="141E2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DA43B27A-BCE2-056B-113A-3BB66256D3C8}"/>
              </a:ext>
            </a:extLst>
          </p:cNvPr>
          <p:cNvSpPr/>
          <p:nvPr/>
        </p:nvSpPr>
        <p:spPr>
          <a:xfrm>
            <a:off x="1644650" y="14020800"/>
            <a:ext cx="762000" cy="361950"/>
          </a:xfrm>
          <a:prstGeom prst="roundRect">
            <a:avLst>
              <a:gd name="adj" fmla="val 15789"/>
            </a:avLst>
          </a:prstGeom>
          <a:solidFill>
            <a:srgbClr val="B4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36324E86-1BB7-E121-8767-4E11009DE74F}"/>
              </a:ext>
            </a:extLst>
          </p:cNvPr>
          <p:cNvSpPr/>
          <p:nvPr/>
        </p:nvSpPr>
        <p:spPr>
          <a:xfrm>
            <a:off x="1758950" y="14077950"/>
            <a:ext cx="609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</a:t>
            </a:r>
            <a:endParaRPr lang="en-US" sz="15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0537F6BF-2D55-CE1E-C310-EF8AC50A1FA3}"/>
              </a:ext>
            </a:extLst>
          </p:cNvPr>
          <p:cNvSpPr/>
          <p:nvPr/>
        </p:nvSpPr>
        <p:spPr>
          <a:xfrm>
            <a:off x="2559050" y="14052550"/>
            <a:ext cx="30175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 01 · CREDENTIAL</a:t>
            </a:r>
            <a:endParaRPr lang="en-US" sz="18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60052D02-7CB0-EBAC-DBED-6F38B4D02BE5}"/>
              </a:ext>
            </a:extLst>
          </p:cNvPr>
          <p:cNvSpPr/>
          <p:nvPr/>
        </p:nvSpPr>
        <p:spPr>
          <a:xfrm>
            <a:off x="1644650" y="14630400"/>
            <a:ext cx="7466965" cy="6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58"/>
              </a:lnSpc>
              <a:buNone/>
            </a:pPr>
            <a:r>
              <a:rPr lang="en-US" sz="4050" b="1" kern="0" spc="-122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Solana 지갑 비밀키</a:t>
            </a:r>
            <a:endParaRPr lang="en-US" sz="405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2AA2F8D8-65BB-C74B-8501-88603ACADD75}"/>
              </a:ext>
            </a:extLst>
          </p:cNvPr>
          <p:cNvSpPr/>
          <p:nvPr/>
        </p:nvSpPr>
        <p:spPr>
          <a:xfrm>
            <a:off x="1644650" y="15443795"/>
            <a:ext cx="6991795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2250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공개된 대화에 지갑의 공개키와 64바이트 비밀키 전체가 그대로 출력되어 있었다. 공개된 값으로 계산한 공개키가 대화의 지갑 주소와 정확히 일치해, 예시 데이터가 아닌 유효한 키였다.</a:t>
            </a:r>
            <a:endParaRPr lang="en-US" sz="2250" dirty="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4EB3EA0F-7179-C366-2263-7B9040C96C58}"/>
              </a:ext>
            </a:extLst>
          </p:cNvPr>
          <p:cNvSpPr/>
          <p:nvPr/>
        </p:nvSpPr>
        <p:spPr>
          <a:xfrm>
            <a:off x="1644650" y="17520246"/>
            <a:ext cx="6788150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211FB1E0-E0B2-6206-2835-246D1A03631A}"/>
              </a:ext>
            </a:extLst>
          </p:cNvPr>
          <p:cNvSpPr/>
          <p:nvPr/>
        </p:nvSpPr>
        <p:spPr>
          <a:xfrm>
            <a:off x="1644650" y="17774246"/>
            <a:ext cx="6991795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164"/>
              </a:lnSpc>
              <a:buNone/>
            </a:pPr>
            <a:r>
              <a:rPr lang="en-US" sz="2100" dirty="0">
                <a:solidFill>
                  <a:srgbClr val="6B74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주소는 Solana 메인넷 거래에서 서명자이자 수수료 지급자로 사용된 기록이 확인됐다.</a:t>
            </a:r>
            <a:endParaRPr lang="en-US" sz="2100" dirty="0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7E1072BA-6653-720F-09C9-0FADB4EA8DC7}"/>
              </a:ext>
            </a:extLst>
          </p:cNvPr>
          <p:cNvSpPr/>
          <p:nvPr/>
        </p:nvSpPr>
        <p:spPr>
          <a:xfrm>
            <a:off x="9353550" y="13519150"/>
            <a:ext cx="7791450" cy="667385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6350">
            <a:solidFill>
              <a:srgbClr val="000000">
                <a:alpha val="7000"/>
              </a:srgbClr>
            </a:solidFill>
            <a:prstDash val="solid"/>
          </a:ln>
          <a:effectLst>
            <a:outerShdw blurRad="666750" dist="285750" dir="5400000" algn="bl" rotWithShape="0">
              <a:srgbClr val="141E2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F160E7D8-0FAC-4935-0A71-79C9367D1D3F}"/>
              </a:ext>
            </a:extLst>
          </p:cNvPr>
          <p:cNvSpPr/>
          <p:nvPr/>
        </p:nvSpPr>
        <p:spPr>
          <a:xfrm>
            <a:off x="9855201" y="14020800"/>
            <a:ext cx="1028700" cy="361950"/>
          </a:xfrm>
          <a:prstGeom prst="roundRect">
            <a:avLst>
              <a:gd name="adj" fmla="val 15789"/>
            </a:avLst>
          </a:prstGeom>
          <a:solidFill>
            <a:srgbClr val="A97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C61B2E26-03B9-1AC2-4382-BE3A69602819}"/>
              </a:ext>
            </a:extLst>
          </p:cNvPr>
          <p:cNvSpPr/>
          <p:nvPr/>
        </p:nvSpPr>
        <p:spPr>
          <a:xfrm>
            <a:off x="9969501" y="14077950"/>
            <a:ext cx="876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MEDIUM</a:t>
            </a:r>
            <a:endParaRPr lang="en-US" sz="1500" dirty="0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CC1DC4DB-6974-A528-C90C-80C4917C90ED}"/>
              </a:ext>
            </a:extLst>
          </p:cNvPr>
          <p:cNvSpPr/>
          <p:nvPr/>
        </p:nvSpPr>
        <p:spPr>
          <a:xfrm>
            <a:off x="11036301" y="14052550"/>
            <a:ext cx="30175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 02 · DISCLOSURE</a:t>
            </a:r>
            <a:endParaRPr lang="en-US" sz="1800" dirty="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FDB5A515-FE26-8DC5-B63E-81BDEAE2FF25}"/>
              </a:ext>
            </a:extLst>
          </p:cNvPr>
          <p:cNvSpPr/>
          <p:nvPr/>
        </p:nvSpPr>
        <p:spPr>
          <a:xfrm>
            <a:off x="9855201" y="14630400"/>
            <a:ext cx="7466965" cy="6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58"/>
              </a:lnSpc>
              <a:buNone/>
            </a:pPr>
            <a:r>
              <a:rPr lang="en-US" sz="4050" b="1" kern="0" spc="-122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3사 공동 워크숍 제안서</a:t>
            </a:r>
            <a:endParaRPr lang="en-US" sz="4050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6327B448-4F5A-A8A0-6B2C-BAF733FF0038}"/>
              </a:ext>
            </a:extLst>
          </p:cNvPr>
          <p:cNvSpPr/>
          <p:nvPr/>
        </p:nvSpPr>
        <p:spPr>
          <a:xfrm>
            <a:off x="9855201" y="15443795"/>
            <a:ext cx="699179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2250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참석자 8명의 성명·직급·소속과 프로젝트상 역할, 날짜별 숙소 명칭과 도로명주소, 체크인·체크아웃 시각, 이동 계획이 함께 담겨 있었다.</a:t>
            </a:r>
            <a:endParaRPr lang="en-US" sz="2250" dirty="0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742EC0C7-183D-B1C1-4D28-5F56CAA3AA2B}"/>
              </a:ext>
            </a:extLst>
          </p:cNvPr>
          <p:cNvSpPr/>
          <p:nvPr/>
        </p:nvSpPr>
        <p:spPr>
          <a:xfrm>
            <a:off x="9855201" y="17063046"/>
            <a:ext cx="6788150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8D52E787-823B-C63F-D6AA-E745EF417A17}"/>
              </a:ext>
            </a:extLst>
          </p:cNvPr>
          <p:cNvSpPr/>
          <p:nvPr/>
        </p:nvSpPr>
        <p:spPr>
          <a:xfrm>
            <a:off x="9855201" y="17317046"/>
            <a:ext cx="6991795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164"/>
              </a:lnSpc>
              <a:buNone/>
            </a:pPr>
            <a:r>
              <a:rPr lang="en-US" sz="2100" dirty="0">
                <a:solidFill>
                  <a:srgbClr val="6B74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플랫폼의 핵심 기능과 개발 준비사항, 1,748,455원 규모의 예산 내역까지 확인됐다.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8540909" cy="1327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900" b="1" kern="0" spc="-241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직접 확인한 노출 사례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13930809" y="1695450"/>
            <a:ext cx="353561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CONFIRMED · 2 CASES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3000" y="2698750"/>
            <a:ext cx="7791450" cy="667385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6350">
            <a:solidFill>
              <a:srgbClr val="000000">
                <a:alpha val="7000"/>
              </a:srgbClr>
            </a:solidFill>
            <a:prstDash val="solid"/>
          </a:ln>
          <a:effectLst>
            <a:outerShdw blurRad="666750" dist="285750" dir="5400000" algn="bl" rotWithShape="0">
              <a:srgbClr val="141E2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644650" y="3200400"/>
            <a:ext cx="762000" cy="361950"/>
          </a:xfrm>
          <a:prstGeom prst="roundRect">
            <a:avLst>
              <a:gd name="adj" fmla="val 15789"/>
            </a:avLst>
          </a:prstGeom>
          <a:solidFill>
            <a:srgbClr val="B4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758950" y="3257550"/>
            <a:ext cx="609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59050" y="3232150"/>
            <a:ext cx="30175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 01 · CREDENTIAL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4650" y="3810000"/>
            <a:ext cx="7466965" cy="6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58"/>
              </a:lnSpc>
              <a:buNone/>
            </a:pPr>
            <a:r>
              <a:rPr lang="en-US" sz="4050" b="1" kern="0" spc="-122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Solana 지갑 비밀키</a:t>
            </a:r>
            <a:endParaRPr lang="en-US" sz="4050" dirty="0"/>
          </a:p>
        </p:txBody>
      </p:sp>
      <p:sp>
        <p:nvSpPr>
          <p:cNvPr id="9" name="Text 7"/>
          <p:cNvSpPr/>
          <p:nvPr/>
        </p:nvSpPr>
        <p:spPr>
          <a:xfrm>
            <a:off x="1644650" y="4623395"/>
            <a:ext cx="6991795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2250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공개된 대화에 지갑의 공개키와 64바이트 비밀키 전체가 그대로 출력되어 있었다. 공개된 값으로 계산한 공개키가 대화의 지갑 주소와 정확히 일치해, 예시 데이터가 아닌 유효한 키였다.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644650" y="6699846"/>
            <a:ext cx="6788150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644650" y="6953846"/>
            <a:ext cx="6991795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164"/>
              </a:lnSpc>
              <a:buNone/>
            </a:pPr>
            <a:r>
              <a:rPr lang="en-US" sz="2100" dirty="0">
                <a:solidFill>
                  <a:srgbClr val="6B74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주소는 Solana 메인넷 거래에서 서명자이자 수수료 지급자로 사용된 기록이 확인됐다.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353550" y="2698750"/>
            <a:ext cx="7791450" cy="667385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6350">
            <a:solidFill>
              <a:srgbClr val="000000">
                <a:alpha val="7000"/>
              </a:srgbClr>
            </a:solidFill>
            <a:prstDash val="solid"/>
          </a:ln>
          <a:effectLst>
            <a:outerShdw blurRad="666750" dist="285750" dir="5400000" algn="bl" rotWithShape="0">
              <a:srgbClr val="141E2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855201" y="3200400"/>
            <a:ext cx="1028700" cy="361950"/>
          </a:xfrm>
          <a:prstGeom prst="roundRect">
            <a:avLst>
              <a:gd name="adj" fmla="val 15789"/>
            </a:avLst>
          </a:prstGeom>
          <a:solidFill>
            <a:srgbClr val="A97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969501" y="3257550"/>
            <a:ext cx="876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MEDIUM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036301" y="3232150"/>
            <a:ext cx="30175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 02 · DISCLOSURE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855201" y="3810000"/>
            <a:ext cx="7466965" cy="6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58"/>
              </a:lnSpc>
              <a:buNone/>
            </a:pPr>
            <a:r>
              <a:rPr lang="en-US" sz="4050" b="1" kern="0" spc="-122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3사 공동 워크숍 제안서</a:t>
            </a:r>
            <a:endParaRPr lang="en-US" sz="4050" dirty="0"/>
          </a:p>
        </p:txBody>
      </p:sp>
      <p:sp>
        <p:nvSpPr>
          <p:cNvPr id="17" name="Text 15"/>
          <p:cNvSpPr/>
          <p:nvPr/>
        </p:nvSpPr>
        <p:spPr>
          <a:xfrm>
            <a:off x="9855201" y="4623395"/>
            <a:ext cx="699179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2250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참석자 8명의 성명·직급·소속과 프로젝트상 역할, 날짜별 숙소 명칭과 도로명주소, 체크인·체크아웃 시각, 이동 계획이 함께 담겨 있었다.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855201" y="6242646"/>
            <a:ext cx="6788150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855201" y="6496646"/>
            <a:ext cx="6991795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164"/>
              </a:lnSpc>
              <a:buNone/>
            </a:pPr>
            <a:r>
              <a:rPr lang="en-US" sz="2100" dirty="0">
                <a:solidFill>
                  <a:srgbClr val="6B74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플랫폼의 핵심 기능과 개발 준비사항, 1,748,455원 규모의 예산 내역까지 확인됐다.</a:t>
            </a:r>
            <a:endParaRPr lang="en-US" sz="2100" dirty="0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CE2C3394-A0EF-4C39-9694-58956BC1194D}"/>
              </a:ext>
            </a:extLst>
          </p:cNvPr>
          <p:cNvSpPr/>
          <p:nvPr/>
        </p:nvSpPr>
        <p:spPr>
          <a:xfrm>
            <a:off x="0" y="-2166620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7F9FA">
                  <a:alpha val="100000"/>
                </a:srgbClr>
              </a:gs>
              <a:gs pos="40000">
                <a:srgbClr val="FBFBFB">
                  <a:alpha val="100000"/>
                </a:srgbClr>
              </a:gs>
              <a:gs pos="100000">
                <a:srgbClr val="E7EDF3">
                  <a:alpha val="100000"/>
                </a:srgbClr>
              </a:gs>
            </a:gsLst>
            <a:lin ang="39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1A4ABAF3-4071-F830-2DDC-CA4C9125284C}"/>
              </a:ext>
            </a:extLst>
          </p:cNvPr>
          <p:cNvSpPr/>
          <p:nvPr/>
        </p:nvSpPr>
        <p:spPr>
          <a:xfrm>
            <a:off x="1143000" y="-20618450"/>
            <a:ext cx="544295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RULE-BASED EXPOSURE SCANNER</a:t>
            </a:r>
            <a:endParaRPr lang="en-US" sz="1950" dirty="0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3B7715A1-2536-C4D9-3F6F-29DA6E175218}"/>
              </a:ext>
            </a:extLst>
          </p:cNvPr>
          <p:cNvSpPr/>
          <p:nvPr/>
        </p:nvSpPr>
        <p:spPr>
          <a:xfrm>
            <a:off x="14579303" y="-20618450"/>
            <a:ext cx="28222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 · 08 · 22</a:t>
            </a:r>
            <a:endParaRPr lang="en-US" sz="195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38ED9CBB-D539-35EA-D71E-CA684382122B}"/>
              </a:ext>
            </a:extLst>
          </p:cNvPr>
          <p:cNvSpPr/>
          <p:nvPr/>
        </p:nvSpPr>
        <p:spPr>
          <a:xfrm>
            <a:off x="1143000" y="-19338032"/>
            <a:ext cx="17602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공유 링크 민감정보 스캐너</a:t>
            </a:r>
            <a:endParaRPr lang="en-US" sz="21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5D02608D-3443-761C-A3CA-2F2A6461AF16}"/>
              </a:ext>
            </a:extLst>
          </p:cNvPr>
          <p:cNvSpPr/>
          <p:nvPr/>
        </p:nvSpPr>
        <p:spPr>
          <a:xfrm>
            <a:off x="1143000" y="-18626832"/>
            <a:ext cx="16482060" cy="30525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5209"/>
              </a:lnSpc>
              <a:buNone/>
            </a:pPr>
            <a:r>
              <a:rPr lang="en-US" sz="12900" b="1" kern="0" spc="-580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Swimmmming pool scaNNer</a:t>
            </a:r>
            <a:endParaRPr lang="en-US" sz="129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9FDFFFD1-CD01-9278-5D71-4FD8E7607646}"/>
              </a:ext>
            </a:extLst>
          </p:cNvPr>
          <p:cNvSpPr/>
          <p:nvPr/>
        </p:nvSpPr>
        <p:spPr>
          <a:xfrm>
            <a:off x="1143000" y="-15250418"/>
            <a:ext cx="10791825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268"/>
              </a:lnSpc>
              <a:buNone/>
            </a:pPr>
            <a:r>
              <a:rPr lang="en-US" sz="2850" dirty="0">
                <a:solidFill>
                  <a:srgbClr val="4B55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공개된 공유 페이지에 남아 있는 개인정보와 인증정보를, 규칙으로 찾아서 가려주는 스캐너.</a:t>
            </a:r>
            <a:endParaRPr lang="en-US" sz="285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4C32C2F9-87B4-94BB-5AB4-DB5A02B2840C}"/>
              </a:ext>
            </a:extLst>
          </p:cNvPr>
          <p:cNvSpPr/>
          <p:nvPr/>
        </p:nvSpPr>
        <p:spPr>
          <a:xfrm>
            <a:off x="1143000" y="-13208000"/>
            <a:ext cx="1535172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PRESENTER</a:t>
            </a:r>
            <a:endParaRPr lang="en-US" sz="165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84F999B0-1D80-4031-3605-0EF0AB91594D}"/>
              </a:ext>
            </a:extLst>
          </p:cNvPr>
          <p:cNvSpPr/>
          <p:nvPr/>
        </p:nvSpPr>
        <p:spPr>
          <a:xfrm>
            <a:off x="1143000" y="-12839700"/>
            <a:ext cx="1535172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B74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김수영</a:t>
            </a:r>
            <a:endParaRPr lang="en-US" sz="225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AAC11ED0-E4B9-168A-5810-8BABBC0F1260}"/>
              </a:ext>
            </a:extLst>
          </p:cNvPr>
          <p:cNvSpPr/>
          <p:nvPr/>
        </p:nvSpPr>
        <p:spPr>
          <a:xfrm>
            <a:off x="3148211" y="-13208000"/>
            <a:ext cx="387613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BUILT ON</a:t>
            </a:r>
            <a:endParaRPr lang="en-US" sz="1650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CD0E1353-B513-0CDA-3A7D-F3ED0BA8C1E5}"/>
              </a:ext>
            </a:extLst>
          </p:cNvPr>
          <p:cNvSpPr/>
          <p:nvPr/>
        </p:nvSpPr>
        <p:spPr>
          <a:xfrm>
            <a:off x="3148211" y="-12839700"/>
            <a:ext cx="387613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B74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 · Express · 규칙 7개</a:t>
            </a:r>
            <a:endParaRPr lang="en-US" sz="2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01 — 탐지 결과 및 통계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657350"/>
            <a:ext cx="17602200" cy="127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kern="0" spc="-231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무엇이 가장 많이 새는가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3911600"/>
            <a:ext cx="77343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43000" y="3308350"/>
            <a:ext cx="239400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키워드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7871421" y="3467100"/>
            <a:ext cx="108208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4127500"/>
            <a:ext cx="112782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기밀문서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8020050" y="4127500"/>
            <a:ext cx="9334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28.9%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143000" y="4616450"/>
            <a:ext cx="7734300" cy="133350"/>
          </a:xfrm>
          <a:prstGeom prst="roundRect">
            <a:avLst>
              <a:gd name="adj" fmla="val 50000"/>
            </a:avLst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43000" y="4616450"/>
            <a:ext cx="7734300" cy="133350"/>
          </a:xfrm>
          <a:prstGeom prst="roundRect">
            <a:avLst>
              <a:gd name="adj" fmla="val 50000"/>
            </a:avLst>
          </a:prstGeom>
          <a:solidFill>
            <a:srgbClr val="1618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43000" y="4959350"/>
            <a:ext cx="112782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조직정보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020050" y="4959350"/>
            <a:ext cx="9334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24.4%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143000" y="5448300"/>
            <a:ext cx="7734300" cy="133350"/>
          </a:xfrm>
          <a:prstGeom prst="roundRect">
            <a:avLst>
              <a:gd name="adj" fmla="val 50000"/>
            </a:avLst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43000" y="5448300"/>
            <a:ext cx="6496745" cy="133350"/>
          </a:xfrm>
          <a:prstGeom prst="roundRect">
            <a:avLst>
              <a:gd name="adj" fmla="val 50000"/>
            </a:avLst>
          </a:prstGeom>
          <a:solidFill>
            <a:srgbClr val="1618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143000" y="5791200"/>
            <a:ext cx="112782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금융정보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191500" y="5791200"/>
            <a:ext cx="76200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8.9%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143000" y="6280150"/>
            <a:ext cx="7734300" cy="133350"/>
          </a:xfrm>
          <a:prstGeom prst="roundRect">
            <a:avLst>
              <a:gd name="adj" fmla="val 50000"/>
            </a:avLst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43000" y="6280150"/>
            <a:ext cx="2397621" cy="133350"/>
          </a:xfrm>
          <a:prstGeom prst="roundRect">
            <a:avLst>
              <a:gd name="adj" fmla="val 50000"/>
            </a:avLst>
          </a:prstGeom>
          <a:solidFill>
            <a:srgbClr val="5A657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143000" y="6623050"/>
            <a:ext cx="5064125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 · 연락처 · 계정 · 결제 (각각)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8191500" y="6623050"/>
            <a:ext cx="76200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6.7%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143000" y="7112000"/>
            <a:ext cx="7734300" cy="133350"/>
          </a:xfrm>
          <a:prstGeom prst="roundRect">
            <a:avLst>
              <a:gd name="adj" fmla="val 50000"/>
            </a:avLst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43000" y="7112000"/>
            <a:ext cx="1778794" cy="133350"/>
          </a:xfrm>
          <a:prstGeom prst="roundRect">
            <a:avLst>
              <a:gd name="adj" fmla="val 50000"/>
            </a:avLst>
          </a:prstGeom>
          <a:solidFill>
            <a:srgbClr val="5A657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143000" y="7588250"/>
            <a:ext cx="850773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1950" dirty="0">
                <a:solidFill>
                  <a:srgbClr val="6B74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임직원 명단, 내부 회의 내용, 워크숍 일정, 사업계획, 재무·운영 자료.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410700" y="3911600"/>
            <a:ext cx="77343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410700" y="3308350"/>
            <a:ext cx="1738501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키워드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6013411" y="3467100"/>
            <a:ext cx="120779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EDUCATION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410700" y="4127500"/>
            <a:ext cx="112782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6287750" y="4127500"/>
            <a:ext cx="9334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19.2%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410700" y="4616450"/>
            <a:ext cx="7734300" cy="133350"/>
          </a:xfrm>
          <a:prstGeom prst="roundRect">
            <a:avLst>
              <a:gd name="adj" fmla="val 50000"/>
            </a:avLst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410700" y="4616450"/>
            <a:ext cx="7734300" cy="133350"/>
          </a:xfrm>
          <a:prstGeom prst="roundRect">
            <a:avLst>
              <a:gd name="adj" fmla="val 50000"/>
            </a:avLst>
          </a:prstGeom>
          <a:solidFill>
            <a:srgbClr val="1618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9410700" y="4959350"/>
            <a:ext cx="2359075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 · 계정정보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6287750" y="4959350"/>
            <a:ext cx="9334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19.2%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9410700" y="5448300"/>
            <a:ext cx="7734300" cy="133350"/>
          </a:xfrm>
          <a:prstGeom prst="roundRect">
            <a:avLst>
              <a:gd name="adj" fmla="val 50000"/>
            </a:avLst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9410700" y="5448300"/>
            <a:ext cx="7734300" cy="133350"/>
          </a:xfrm>
          <a:prstGeom prst="roundRect">
            <a:avLst>
              <a:gd name="adj" fmla="val 50000"/>
            </a:avLst>
          </a:prstGeom>
          <a:solidFill>
            <a:srgbClr val="1618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9410700" y="5791200"/>
            <a:ext cx="120779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 노출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6287750" y="5791200"/>
            <a:ext cx="9334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15.4%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9410700" y="6280150"/>
            <a:ext cx="7734300" cy="133350"/>
          </a:xfrm>
          <a:prstGeom prst="roundRect">
            <a:avLst>
              <a:gd name="adj" fmla="val 50000"/>
            </a:avLst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9410700" y="6280150"/>
            <a:ext cx="6187380" cy="133350"/>
          </a:xfrm>
          <a:prstGeom prst="roundRect">
            <a:avLst>
              <a:gd name="adj" fmla="val 50000"/>
            </a:avLst>
          </a:prstGeom>
          <a:solidFill>
            <a:srgbClr val="5A657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9410700" y="6623050"/>
            <a:ext cx="4616539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· 교육자료 · 위치·행동 (각각)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16287750" y="6623050"/>
            <a:ext cx="9334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1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11.5%</a:t>
            </a:r>
            <a:endParaRPr lang="en-US" sz="2250" dirty="0"/>
          </a:p>
        </p:txBody>
      </p:sp>
      <p:sp>
        <p:nvSpPr>
          <p:cNvPr id="41" name="Shape 39"/>
          <p:cNvSpPr/>
          <p:nvPr/>
        </p:nvSpPr>
        <p:spPr>
          <a:xfrm>
            <a:off x="9410700" y="7112000"/>
            <a:ext cx="7734300" cy="133350"/>
          </a:xfrm>
          <a:prstGeom prst="roundRect">
            <a:avLst>
              <a:gd name="adj" fmla="val 50000"/>
            </a:avLst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9410700" y="7112000"/>
            <a:ext cx="4640560" cy="133350"/>
          </a:xfrm>
          <a:prstGeom prst="roundRect">
            <a:avLst>
              <a:gd name="adj" fmla="val 50000"/>
            </a:avLst>
          </a:prstGeom>
          <a:solidFill>
            <a:srgbClr val="5A657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9410700" y="7588250"/>
            <a:ext cx="850773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1950" dirty="0">
                <a:solidFill>
                  <a:srgbClr val="6B74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 이름, 학번, 이메일, 전화번호, 계정 아이디, 학습 성취도.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143000" y="9099550"/>
            <a:ext cx="176022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99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site:claude.ai/public 키워드 검색으로 확인·검증한 사례 기준 — 전수조사가 아니며 전체 노출 비율로 일반화하지 않는다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EDF2F6">
                  <a:alpha val="100000"/>
                </a:srgbClr>
              </a:gs>
              <a:gs pos="55000">
                <a:srgbClr val="F8F9FA">
                  <a:alpha val="100000"/>
                </a:srgbClr>
              </a:gs>
              <a:gs pos="100000">
                <a:srgbClr val="E7EDF3">
                  <a:alpha val="100000"/>
                </a:srgbClr>
              </a:gs>
            </a:gsLst>
            <a:lin ang="36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143000" y="1900634"/>
            <a:ext cx="83820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01 — 조사 방식의 문제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2567385"/>
            <a:ext cx="7848600" cy="1798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516"/>
              </a:lnSpc>
              <a:buNone/>
            </a:pPr>
            <a:r>
              <a:rPr lang="en-US" sz="6600" b="1" kern="0" spc="-231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조사는 전부 손으로 했다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143000" y="4778375"/>
            <a:ext cx="3505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26890" y="4670425"/>
            <a:ext cx="6340197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검색어를 하나하나 바꿔가며 브라우저에서 검색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1143000" y="5375275"/>
            <a:ext cx="3505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26890" y="5267325"/>
            <a:ext cx="3968790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후보 URL을 모아 중복을 정리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1143000" y="5972175"/>
            <a:ext cx="3505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26890" y="5864225"/>
            <a:ext cx="6522135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원문을 비로그인 상태로 열어 실제 노출인지 확인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1143000" y="6569075"/>
            <a:ext cx="3505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26890" y="6461125"/>
            <a:ext cx="6314877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증거를 마스킹하고 유형·심각도·신뢰도를 기록</a:t>
            </a:r>
            <a:endParaRPr lang="en-US" sz="2325" dirty="0"/>
          </a:p>
        </p:txBody>
      </p:sp>
      <p:sp>
        <p:nvSpPr>
          <p:cNvPr id="13" name="Shape 11"/>
          <p:cNvSpPr/>
          <p:nvPr/>
        </p:nvSpPr>
        <p:spPr>
          <a:xfrm>
            <a:off x="1143000" y="7229475"/>
            <a:ext cx="76200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143000" y="7502525"/>
            <a:ext cx="7848600" cy="9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76"/>
              </a:lnSpc>
              <a:buNone/>
            </a:pPr>
            <a:r>
              <a:rPr lang="en-US" sz="2175" dirty="0">
                <a:solidFill>
                  <a:srgbClr val="6B74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반복되는 URL 정리와 본문 추출은 Python 크롤러로 보조했지만, 탐지와 마스킹, 판정은 매번 처음부터 다시 붙여 써야 했다.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9525000" y="2131814"/>
            <a:ext cx="7620000" cy="6023372"/>
          </a:xfrm>
          <a:prstGeom prst="roundRect">
            <a:avLst>
              <a:gd name="adj" fmla="val 4428"/>
            </a:avLst>
          </a:prstGeom>
          <a:solidFill>
            <a:srgbClr val="FFFFFF"/>
          </a:solidFill>
          <a:ln w="6350">
            <a:solidFill>
              <a:srgbClr val="000000">
                <a:alpha val="7000"/>
              </a:srgbClr>
            </a:solidFill>
            <a:prstDash val="solid"/>
          </a:ln>
          <a:effectLst>
            <a:outerShdw blurRad="857250" dist="381000" dir="5400000" algn="bl" rotWithShape="0">
              <a:srgbClr val="141E28">
                <a:alpha val="5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140951" y="2747764"/>
            <a:ext cx="702691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 WE BUILT IT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140951" y="3351014"/>
            <a:ext cx="6579743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4800" b="1" kern="0" spc="-168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그 반복을 한 번에 끝내는 도구를 만들었다.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10140951" y="5057775"/>
            <a:ext cx="6579743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45"/>
              </a:lnSpc>
              <a:buNone/>
            </a:pPr>
            <a:r>
              <a:rPr lang="en-US" sz="2325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URL을 넣으면 페이지를 가져와 규칙과 대조하고, 찾아낸 증거를 가린 상태로 기록까지 남긴다.</a:t>
            </a:r>
            <a:endParaRPr lang="en-US" sz="2325" dirty="0"/>
          </a:p>
        </p:txBody>
      </p:sp>
      <p:sp>
        <p:nvSpPr>
          <p:cNvPr id="19" name="Shape 17"/>
          <p:cNvSpPr/>
          <p:nvPr/>
        </p:nvSpPr>
        <p:spPr>
          <a:xfrm>
            <a:off x="10140951" y="6307336"/>
            <a:ext cx="6388100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140951" y="6599436"/>
            <a:ext cx="702691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140951" y="6948686"/>
            <a:ext cx="702691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Swimmmming pool scaNNer</a:t>
            </a:r>
            <a:endParaRPr lang="en-US" sz="3300" dirty="0"/>
          </a:p>
        </p:txBody>
      </p:sp>
      <p:sp>
        <p:nvSpPr>
          <p:cNvPr id="109" name="Text 0">
            <a:extLst>
              <a:ext uri="{FF2B5EF4-FFF2-40B4-BE49-F238E27FC236}">
                <a16:creationId xmlns:a16="http://schemas.microsoft.com/office/drawing/2014/main" id="{3D552C28-475E-04AB-A3E5-B863ACDC3D64}"/>
              </a:ext>
            </a:extLst>
          </p:cNvPr>
          <p:cNvSpPr/>
          <p:nvPr/>
        </p:nvSpPr>
        <p:spPr>
          <a:xfrm>
            <a:off x="1244600" y="1249680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02 — 스캐너가 하는 일</a:t>
            </a:r>
            <a:endParaRPr lang="en-US" sz="1950" dirty="0"/>
          </a:p>
        </p:txBody>
      </p:sp>
      <p:sp>
        <p:nvSpPr>
          <p:cNvPr id="111" name="Text 1">
            <a:extLst>
              <a:ext uri="{FF2B5EF4-FFF2-40B4-BE49-F238E27FC236}">
                <a16:creationId xmlns:a16="http://schemas.microsoft.com/office/drawing/2014/main" id="{E070B328-8AE9-02F7-070B-434DA2CE1151}"/>
              </a:ext>
            </a:extLst>
          </p:cNvPr>
          <p:cNvSpPr/>
          <p:nvPr/>
        </p:nvSpPr>
        <p:spPr>
          <a:xfrm>
            <a:off x="1244600" y="13030200"/>
            <a:ext cx="7292862" cy="2492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900" b="1" kern="0" spc="-241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URL 하나를 넣으면 네 단계가 돌아간다</a:t>
            </a:r>
            <a:endParaRPr lang="en-US" sz="6900" dirty="0"/>
          </a:p>
        </p:txBody>
      </p:sp>
      <p:sp>
        <p:nvSpPr>
          <p:cNvPr id="113" name="Text 2">
            <a:extLst>
              <a:ext uri="{FF2B5EF4-FFF2-40B4-BE49-F238E27FC236}">
                <a16:creationId xmlns:a16="http://schemas.microsoft.com/office/drawing/2014/main" id="{373FACC9-61C2-F20A-A7A4-C4332874DE48}"/>
              </a:ext>
            </a:extLst>
          </p:cNvPr>
          <p:cNvSpPr/>
          <p:nvPr/>
        </p:nvSpPr>
        <p:spPr>
          <a:xfrm>
            <a:off x="12293600" y="13739614"/>
            <a:ext cx="5101590" cy="1363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76"/>
              </a:lnSpc>
              <a:buNone/>
            </a:pPr>
            <a:r>
              <a:rPr lang="en-US" sz="2175" dirty="0">
                <a:solidFill>
                  <a:srgbClr val="6B74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사람이 페이지를 열어 눈으로 찾던 일을, 정해진 규칙으로 대신 훑는 것이 전부다. 추측하지 않고 규칙에 맞는 것만 찾는다.</a:t>
            </a:r>
            <a:endParaRPr lang="en-US" sz="2175" dirty="0"/>
          </a:p>
        </p:txBody>
      </p:sp>
      <p:sp>
        <p:nvSpPr>
          <p:cNvPr id="115" name="Shape 3">
            <a:extLst>
              <a:ext uri="{FF2B5EF4-FFF2-40B4-BE49-F238E27FC236}">
                <a16:creationId xmlns:a16="http://schemas.microsoft.com/office/drawing/2014/main" id="{45FD6D6D-3F0C-3B13-F967-DCE5445D9DF0}"/>
              </a:ext>
            </a:extLst>
          </p:cNvPr>
          <p:cNvSpPr/>
          <p:nvPr/>
        </p:nvSpPr>
        <p:spPr>
          <a:xfrm>
            <a:off x="1244600" y="15522575"/>
            <a:ext cx="3771900" cy="5432425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000000">
                <a:alpha val="7000"/>
              </a:srgbClr>
            </a:solidFill>
            <a:prstDash val="solid"/>
          </a:ln>
          <a:effectLst>
            <a:outerShdw blurRad="666750" dist="285750" dir="5400000" algn="bl" rotWithShape="0">
              <a:srgbClr val="141E2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4">
            <a:extLst>
              <a:ext uri="{FF2B5EF4-FFF2-40B4-BE49-F238E27FC236}">
                <a16:creationId xmlns:a16="http://schemas.microsoft.com/office/drawing/2014/main" id="{1132BA16-2834-A9FD-14EF-64309EB5244C}"/>
              </a:ext>
            </a:extLst>
          </p:cNvPr>
          <p:cNvSpPr/>
          <p:nvPr/>
        </p:nvSpPr>
        <p:spPr>
          <a:xfrm>
            <a:off x="1631950" y="15948025"/>
            <a:ext cx="3296920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192" dirty="0">
                <a:solidFill>
                  <a:srgbClr val="D7D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4800" dirty="0"/>
          </a:p>
        </p:txBody>
      </p:sp>
      <p:sp>
        <p:nvSpPr>
          <p:cNvPr id="119" name="Text 5">
            <a:extLst>
              <a:ext uri="{FF2B5EF4-FFF2-40B4-BE49-F238E27FC236}">
                <a16:creationId xmlns:a16="http://schemas.microsoft.com/office/drawing/2014/main" id="{7C68029B-EFA6-83D4-6A88-024A9DB648B1}"/>
              </a:ext>
            </a:extLst>
          </p:cNvPr>
          <p:cNvSpPr/>
          <p:nvPr/>
        </p:nvSpPr>
        <p:spPr>
          <a:xfrm>
            <a:off x="1631950" y="17021175"/>
            <a:ext cx="329692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가져온다</a:t>
            </a:r>
            <a:endParaRPr lang="en-US" sz="3150" dirty="0"/>
          </a:p>
        </p:txBody>
      </p:sp>
      <p:sp>
        <p:nvSpPr>
          <p:cNvPr id="121" name="Text 6">
            <a:extLst>
              <a:ext uri="{FF2B5EF4-FFF2-40B4-BE49-F238E27FC236}">
                <a16:creationId xmlns:a16="http://schemas.microsoft.com/office/drawing/2014/main" id="{0CB55BEF-6671-A06E-C79B-211756451CCE}"/>
              </a:ext>
            </a:extLst>
          </p:cNvPr>
          <p:cNvSpPr/>
          <p:nvPr/>
        </p:nvSpPr>
        <p:spPr>
          <a:xfrm>
            <a:off x="1631950" y="17808575"/>
            <a:ext cx="3087116" cy="1744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164"/>
              </a:lnSpc>
              <a:buNone/>
            </a:pPr>
            <a:r>
              <a:rPr lang="en-US" sz="2100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주소를 열어 페이지 원본을 받아온다. 응답이 없거나 느리면 시간 제한에 걸려 그대로 실패로 기록한다.</a:t>
            </a:r>
            <a:endParaRPr lang="en-US" sz="2100" dirty="0"/>
          </a:p>
        </p:txBody>
      </p:sp>
      <p:sp>
        <p:nvSpPr>
          <p:cNvPr id="123" name="Text 7">
            <a:extLst>
              <a:ext uri="{FF2B5EF4-FFF2-40B4-BE49-F238E27FC236}">
                <a16:creationId xmlns:a16="http://schemas.microsoft.com/office/drawing/2014/main" id="{AB939376-86A7-B9EC-3B8F-BA2FF56CD6B4}"/>
              </a:ext>
            </a:extLst>
          </p:cNvPr>
          <p:cNvSpPr/>
          <p:nvPr/>
        </p:nvSpPr>
        <p:spPr>
          <a:xfrm>
            <a:off x="1631950" y="20256500"/>
            <a:ext cx="329692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fetchUrl()</a:t>
            </a:r>
            <a:endParaRPr lang="en-US" sz="1650" dirty="0"/>
          </a:p>
        </p:txBody>
      </p:sp>
      <p:sp>
        <p:nvSpPr>
          <p:cNvPr id="125" name="Shape 8">
            <a:extLst>
              <a:ext uri="{FF2B5EF4-FFF2-40B4-BE49-F238E27FC236}">
                <a16:creationId xmlns:a16="http://schemas.microsoft.com/office/drawing/2014/main" id="{BA66BDFA-6AE7-6A05-CE85-3C3C38A34602}"/>
              </a:ext>
            </a:extLst>
          </p:cNvPr>
          <p:cNvSpPr/>
          <p:nvPr/>
        </p:nvSpPr>
        <p:spPr>
          <a:xfrm>
            <a:off x="5321300" y="15522575"/>
            <a:ext cx="3771900" cy="5432425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000000">
                <a:alpha val="7000"/>
              </a:srgbClr>
            </a:solidFill>
            <a:prstDash val="solid"/>
          </a:ln>
          <a:effectLst>
            <a:outerShdw blurRad="666750" dist="285750" dir="5400000" algn="bl" rotWithShape="0">
              <a:srgbClr val="141E2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7" name="Text 9">
            <a:extLst>
              <a:ext uri="{FF2B5EF4-FFF2-40B4-BE49-F238E27FC236}">
                <a16:creationId xmlns:a16="http://schemas.microsoft.com/office/drawing/2014/main" id="{B1D1C0E0-47A1-BCE6-CDFD-6F9143675532}"/>
              </a:ext>
            </a:extLst>
          </p:cNvPr>
          <p:cNvSpPr/>
          <p:nvPr/>
        </p:nvSpPr>
        <p:spPr>
          <a:xfrm>
            <a:off x="5708650" y="15948025"/>
            <a:ext cx="3296920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192" dirty="0">
                <a:solidFill>
                  <a:srgbClr val="D7D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4800" dirty="0"/>
          </a:p>
        </p:txBody>
      </p:sp>
      <p:sp>
        <p:nvSpPr>
          <p:cNvPr id="129" name="Text 10">
            <a:extLst>
              <a:ext uri="{FF2B5EF4-FFF2-40B4-BE49-F238E27FC236}">
                <a16:creationId xmlns:a16="http://schemas.microsoft.com/office/drawing/2014/main" id="{61238D15-6F48-EEBD-3D94-4E3D0213365A}"/>
              </a:ext>
            </a:extLst>
          </p:cNvPr>
          <p:cNvSpPr/>
          <p:nvPr/>
        </p:nvSpPr>
        <p:spPr>
          <a:xfrm>
            <a:off x="5708650" y="17021175"/>
            <a:ext cx="329692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글자만 남긴다</a:t>
            </a:r>
            <a:endParaRPr lang="en-US" sz="3150" dirty="0"/>
          </a:p>
        </p:txBody>
      </p:sp>
      <p:sp>
        <p:nvSpPr>
          <p:cNvPr id="131" name="Text 11">
            <a:extLst>
              <a:ext uri="{FF2B5EF4-FFF2-40B4-BE49-F238E27FC236}">
                <a16:creationId xmlns:a16="http://schemas.microsoft.com/office/drawing/2014/main" id="{AC64EBC6-6F57-8AAB-9231-B2AB9AE31BE3}"/>
              </a:ext>
            </a:extLst>
          </p:cNvPr>
          <p:cNvSpPr/>
          <p:nvPr/>
        </p:nvSpPr>
        <p:spPr>
          <a:xfrm>
            <a:off x="5708650" y="17808575"/>
            <a:ext cx="3087116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164"/>
              </a:lnSpc>
              <a:buNone/>
            </a:pPr>
            <a:r>
              <a:rPr lang="en-US" sz="2100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화면을 꾸미는 코드와 스크립트를 걷어내고, 사람이 읽는 문장만 남긴다.</a:t>
            </a:r>
            <a:endParaRPr lang="en-US" sz="2100" dirty="0"/>
          </a:p>
        </p:txBody>
      </p:sp>
      <p:sp>
        <p:nvSpPr>
          <p:cNvPr id="133" name="Text 12">
            <a:extLst>
              <a:ext uri="{FF2B5EF4-FFF2-40B4-BE49-F238E27FC236}">
                <a16:creationId xmlns:a16="http://schemas.microsoft.com/office/drawing/2014/main" id="{449D61A0-5D2C-5C4D-2BAB-1EBA1F79CACE}"/>
              </a:ext>
            </a:extLst>
          </p:cNvPr>
          <p:cNvSpPr/>
          <p:nvPr/>
        </p:nvSpPr>
        <p:spPr>
          <a:xfrm>
            <a:off x="5708650" y="20256500"/>
            <a:ext cx="329692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extractText()</a:t>
            </a:r>
            <a:endParaRPr lang="en-US" sz="1650" dirty="0"/>
          </a:p>
        </p:txBody>
      </p:sp>
      <p:sp>
        <p:nvSpPr>
          <p:cNvPr id="135" name="Shape 13">
            <a:extLst>
              <a:ext uri="{FF2B5EF4-FFF2-40B4-BE49-F238E27FC236}">
                <a16:creationId xmlns:a16="http://schemas.microsoft.com/office/drawing/2014/main" id="{7B9843E9-F803-098F-8D97-508C79D9A3EF}"/>
              </a:ext>
            </a:extLst>
          </p:cNvPr>
          <p:cNvSpPr/>
          <p:nvPr/>
        </p:nvSpPr>
        <p:spPr>
          <a:xfrm>
            <a:off x="9398000" y="15522575"/>
            <a:ext cx="3771900" cy="5432425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000000">
                <a:alpha val="7000"/>
              </a:srgbClr>
            </a:solidFill>
            <a:prstDash val="solid"/>
          </a:ln>
          <a:effectLst>
            <a:outerShdw blurRad="666750" dist="285750" dir="5400000" algn="bl" rotWithShape="0">
              <a:srgbClr val="141E2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7" name="Text 14">
            <a:extLst>
              <a:ext uri="{FF2B5EF4-FFF2-40B4-BE49-F238E27FC236}">
                <a16:creationId xmlns:a16="http://schemas.microsoft.com/office/drawing/2014/main" id="{9C6C20FF-BE17-CC45-D903-BAB48A69D4A0}"/>
              </a:ext>
            </a:extLst>
          </p:cNvPr>
          <p:cNvSpPr/>
          <p:nvPr/>
        </p:nvSpPr>
        <p:spPr>
          <a:xfrm>
            <a:off x="9785350" y="15948025"/>
            <a:ext cx="3296920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192" dirty="0">
                <a:solidFill>
                  <a:srgbClr val="D7D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4800" dirty="0"/>
          </a:p>
        </p:txBody>
      </p:sp>
      <p:sp>
        <p:nvSpPr>
          <p:cNvPr id="139" name="Text 15">
            <a:extLst>
              <a:ext uri="{FF2B5EF4-FFF2-40B4-BE49-F238E27FC236}">
                <a16:creationId xmlns:a16="http://schemas.microsoft.com/office/drawing/2014/main" id="{2121FF85-211E-978C-DBBC-422186151797}"/>
              </a:ext>
            </a:extLst>
          </p:cNvPr>
          <p:cNvSpPr/>
          <p:nvPr/>
        </p:nvSpPr>
        <p:spPr>
          <a:xfrm>
            <a:off x="9785350" y="17021175"/>
            <a:ext cx="329692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규칙과 맞춰본다</a:t>
            </a:r>
            <a:endParaRPr lang="en-US" sz="3150" dirty="0"/>
          </a:p>
        </p:txBody>
      </p:sp>
      <p:sp>
        <p:nvSpPr>
          <p:cNvPr id="141" name="Text 16">
            <a:extLst>
              <a:ext uri="{FF2B5EF4-FFF2-40B4-BE49-F238E27FC236}">
                <a16:creationId xmlns:a16="http://schemas.microsoft.com/office/drawing/2014/main" id="{B5468CDA-8403-4805-25C4-C34C466E2381}"/>
              </a:ext>
            </a:extLst>
          </p:cNvPr>
          <p:cNvSpPr/>
          <p:nvPr/>
        </p:nvSpPr>
        <p:spPr>
          <a:xfrm>
            <a:off x="9785350" y="17808575"/>
            <a:ext cx="3087116" cy="1744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164"/>
              </a:lnSpc>
              <a:buNone/>
            </a:pPr>
            <a:r>
              <a:rPr lang="en-US" sz="2100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이메일, 전화번호, 카드번호, API 키처럼 생김새가 정해진 값을 규칙 7개로 찾아낸다.</a:t>
            </a:r>
            <a:endParaRPr lang="en-US" sz="2100" dirty="0"/>
          </a:p>
        </p:txBody>
      </p:sp>
      <p:sp>
        <p:nvSpPr>
          <p:cNvPr id="143" name="Text 17">
            <a:extLst>
              <a:ext uri="{FF2B5EF4-FFF2-40B4-BE49-F238E27FC236}">
                <a16:creationId xmlns:a16="http://schemas.microsoft.com/office/drawing/2014/main" id="{5EF0031D-F9A8-DB63-35D3-A913AA11393C}"/>
              </a:ext>
            </a:extLst>
          </p:cNvPr>
          <p:cNvSpPr/>
          <p:nvPr/>
        </p:nvSpPr>
        <p:spPr>
          <a:xfrm>
            <a:off x="9785350" y="20256500"/>
            <a:ext cx="329692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ruleEngine.apply()</a:t>
            </a:r>
            <a:endParaRPr lang="en-US" sz="1650" dirty="0"/>
          </a:p>
        </p:txBody>
      </p:sp>
      <p:sp>
        <p:nvSpPr>
          <p:cNvPr id="145" name="Shape 18">
            <a:extLst>
              <a:ext uri="{FF2B5EF4-FFF2-40B4-BE49-F238E27FC236}">
                <a16:creationId xmlns:a16="http://schemas.microsoft.com/office/drawing/2014/main" id="{3F22A62B-AD54-5227-FDB1-6FFCFF5D233D}"/>
              </a:ext>
            </a:extLst>
          </p:cNvPr>
          <p:cNvSpPr/>
          <p:nvPr/>
        </p:nvSpPr>
        <p:spPr>
          <a:xfrm>
            <a:off x="13474700" y="15522575"/>
            <a:ext cx="3771900" cy="5432425"/>
          </a:xfrm>
          <a:prstGeom prst="roundRect">
            <a:avLst>
              <a:gd name="adj" fmla="val 6061"/>
            </a:avLst>
          </a:prstGeom>
          <a:solidFill>
            <a:srgbClr val="16181A"/>
          </a:solidFill>
          <a:ln/>
          <a:effectLst>
            <a:outerShdw blurRad="666750" dist="285750" dir="5400000" algn="bl" rotWithShape="0">
              <a:srgbClr val="141E28">
                <a:alpha val="6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7" name="Text 19">
            <a:extLst>
              <a:ext uri="{FF2B5EF4-FFF2-40B4-BE49-F238E27FC236}">
                <a16:creationId xmlns:a16="http://schemas.microsoft.com/office/drawing/2014/main" id="{D6F97D55-2C3A-5249-A730-11E7C9FDC6EB}"/>
              </a:ext>
            </a:extLst>
          </p:cNvPr>
          <p:cNvSpPr/>
          <p:nvPr/>
        </p:nvSpPr>
        <p:spPr>
          <a:xfrm>
            <a:off x="13855700" y="15941675"/>
            <a:ext cx="3310890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192" dirty="0">
                <a:solidFill>
                  <a:srgbClr val="4A52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4800" dirty="0"/>
          </a:p>
        </p:txBody>
      </p:sp>
      <p:sp>
        <p:nvSpPr>
          <p:cNvPr id="149" name="Text 20">
            <a:extLst>
              <a:ext uri="{FF2B5EF4-FFF2-40B4-BE49-F238E27FC236}">
                <a16:creationId xmlns:a16="http://schemas.microsoft.com/office/drawing/2014/main" id="{195158E9-CCC4-861D-3490-CDA188A91113}"/>
              </a:ext>
            </a:extLst>
          </p:cNvPr>
          <p:cNvSpPr/>
          <p:nvPr/>
        </p:nvSpPr>
        <p:spPr>
          <a:xfrm>
            <a:off x="13855700" y="17014825"/>
            <a:ext cx="331089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가리고 저장한다</a:t>
            </a:r>
            <a:endParaRPr lang="en-US" sz="3150" dirty="0"/>
          </a:p>
        </p:txBody>
      </p:sp>
      <p:sp>
        <p:nvSpPr>
          <p:cNvPr id="151" name="Text 21">
            <a:extLst>
              <a:ext uri="{FF2B5EF4-FFF2-40B4-BE49-F238E27FC236}">
                <a16:creationId xmlns:a16="http://schemas.microsoft.com/office/drawing/2014/main" id="{4ED28509-9BF8-6738-0305-354E73FF647F}"/>
              </a:ext>
            </a:extLst>
          </p:cNvPr>
          <p:cNvSpPr/>
          <p:nvPr/>
        </p:nvSpPr>
        <p:spPr>
          <a:xfrm>
            <a:off x="13855700" y="17802225"/>
            <a:ext cx="3100197" cy="1744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164"/>
              </a:lnSpc>
              <a:buNone/>
            </a:pPr>
            <a:r>
              <a:rPr lang="en-US" sz="2100" dirty="0">
                <a:solidFill>
                  <a:srgbClr val="C9D0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찾은 값은 찾은 즉시 가린다. 결과 목록에는 가려진 형태만 남고, 원본 값은 어디에도 저장되지 않는다.</a:t>
            </a:r>
            <a:endParaRPr lang="en-US" sz="2100" dirty="0"/>
          </a:p>
        </p:txBody>
      </p:sp>
      <p:sp>
        <p:nvSpPr>
          <p:cNvPr id="153" name="Text 22">
            <a:extLst>
              <a:ext uri="{FF2B5EF4-FFF2-40B4-BE49-F238E27FC236}">
                <a16:creationId xmlns:a16="http://schemas.microsoft.com/office/drawing/2014/main" id="{6A8A7EE0-7098-2536-7343-58CFC930FDD2}"/>
              </a:ext>
            </a:extLst>
          </p:cNvPr>
          <p:cNvSpPr/>
          <p:nvPr/>
        </p:nvSpPr>
        <p:spPr>
          <a:xfrm>
            <a:off x="13855700" y="20262850"/>
            <a:ext cx="331089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mask() → save()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02 — 스캐너가 하는 일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47800"/>
            <a:ext cx="7292862" cy="2492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900" b="1" kern="0" spc="-241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URL 하나를 넣으면 네 단계가 돌아간다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2192000" y="2157214"/>
            <a:ext cx="5101590" cy="1363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76"/>
              </a:lnSpc>
              <a:buNone/>
            </a:pPr>
            <a:r>
              <a:rPr lang="en-US" sz="2175" dirty="0">
                <a:solidFill>
                  <a:srgbClr val="6B74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사람이 페이지를 열어 눈으로 찾던 일을, 정해진 규칙으로 대신 훑는 것이 전부다. 추측하지 않고 규칙에 맞는 것만 찾는다.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1143000" y="3940175"/>
            <a:ext cx="3771900" cy="5432425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000000">
                <a:alpha val="7000"/>
              </a:srgbClr>
            </a:solidFill>
            <a:prstDash val="solid"/>
          </a:ln>
          <a:effectLst>
            <a:outerShdw blurRad="666750" dist="285750" dir="5400000" algn="bl" rotWithShape="0">
              <a:srgbClr val="141E2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530350" y="4365625"/>
            <a:ext cx="3296920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192" dirty="0">
                <a:solidFill>
                  <a:srgbClr val="D7D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530350" y="5438775"/>
            <a:ext cx="329692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가져온다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530350" y="6226175"/>
            <a:ext cx="3087116" cy="1744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164"/>
              </a:lnSpc>
              <a:buNone/>
            </a:pPr>
            <a:r>
              <a:rPr lang="en-US" sz="2100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주소를 열어 페이지 원본을 받아온다. 응답이 없거나 느리면 시간 제한에 걸려 그대로 실패로 기록한다.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30350" y="8674100"/>
            <a:ext cx="329692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fetchUrl()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219700" y="3940175"/>
            <a:ext cx="3771900" cy="5432425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000000">
                <a:alpha val="7000"/>
              </a:srgbClr>
            </a:solidFill>
            <a:prstDash val="solid"/>
          </a:ln>
          <a:effectLst>
            <a:outerShdw blurRad="666750" dist="285750" dir="5400000" algn="bl" rotWithShape="0">
              <a:srgbClr val="141E2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607050" y="4365625"/>
            <a:ext cx="3296920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192" dirty="0">
                <a:solidFill>
                  <a:srgbClr val="D7D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607050" y="5438775"/>
            <a:ext cx="329692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글자만 남긴다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5607050" y="6226175"/>
            <a:ext cx="3087116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164"/>
              </a:lnSpc>
              <a:buNone/>
            </a:pPr>
            <a:r>
              <a:rPr lang="en-US" sz="2100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화면을 꾸미는 코드와 스크립트를 걷어내고, 사람이 읽는 문장만 남긴다.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607050" y="8674100"/>
            <a:ext cx="329692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extractText()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296400" y="3940175"/>
            <a:ext cx="3771900" cy="5432425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000000">
                <a:alpha val="7000"/>
              </a:srgbClr>
            </a:solidFill>
            <a:prstDash val="solid"/>
          </a:ln>
          <a:effectLst>
            <a:outerShdw blurRad="666750" dist="285750" dir="5400000" algn="bl" rotWithShape="0">
              <a:srgbClr val="141E2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683750" y="4365625"/>
            <a:ext cx="3296920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192" dirty="0">
                <a:solidFill>
                  <a:srgbClr val="D7D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9683750" y="5438775"/>
            <a:ext cx="329692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규칙과 맞춰본다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9683750" y="6226175"/>
            <a:ext cx="3087116" cy="1744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164"/>
              </a:lnSpc>
              <a:buNone/>
            </a:pPr>
            <a:r>
              <a:rPr lang="en-US" sz="2100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이메일, 전화번호, 카드번호, API 키처럼 생김새가 정해진 값을 규칙 7개로 찾아낸다.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683750" y="8674100"/>
            <a:ext cx="329692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ruleEngine.apply()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73100" y="3940175"/>
            <a:ext cx="3771900" cy="5432425"/>
          </a:xfrm>
          <a:prstGeom prst="roundRect">
            <a:avLst>
              <a:gd name="adj" fmla="val 6061"/>
            </a:avLst>
          </a:prstGeom>
          <a:solidFill>
            <a:srgbClr val="16181A"/>
          </a:solidFill>
          <a:ln/>
          <a:effectLst>
            <a:outerShdw blurRad="666750" dist="285750" dir="5400000" algn="bl" rotWithShape="0">
              <a:srgbClr val="141E28">
                <a:alpha val="6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3754100" y="4359275"/>
            <a:ext cx="3310890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192" dirty="0">
                <a:solidFill>
                  <a:srgbClr val="4A52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13754100" y="5432425"/>
            <a:ext cx="331089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가리고 저장한다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13754100" y="6219825"/>
            <a:ext cx="3100197" cy="1744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164"/>
              </a:lnSpc>
              <a:buNone/>
            </a:pPr>
            <a:r>
              <a:rPr lang="en-US" sz="2100" dirty="0">
                <a:solidFill>
                  <a:srgbClr val="C9D0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찾은 값은 찾은 즉시 가린다. 결과 목록에는 가려진 형태만 남고, 원본 값은 어디에도 저장되지 않는다.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754100" y="8680450"/>
            <a:ext cx="331089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mask() → save()</a:t>
            </a:r>
            <a:endParaRPr lang="en-US" sz="1650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F4D29D4E-EB49-2EE3-DA16-91DD696A1062}"/>
              </a:ext>
            </a:extLst>
          </p:cNvPr>
          <p:cNvSpPr/>
          <p:nvPr/>
        </p:nvSpPr>
        <p:spPr>
          <a:xfrm>
            <a:off x="736600" y="-9199166"/>
            <a:ext cx="83820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01 — 조사 방식의 문제</a:t>
            </a:r>
            <a:endParaRPr lang="en-US" sz="195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58C76F7B-E6C7-645A-F42D-6AB81F516EAB}"/>
              </a:ext>
            </a:extLst>
          </p:cNvPr>
          <p:cNvSpPr/>
          <p:nvPr/>
        </p:nvSpPr>
        <p:spPr>
          <a:xfrm>
            <a:off x="736600" y="-8532415"/>
            <a:ext cx="7848600" cy="1798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516"/>
              </a:lnSpc>
              <a:buNone/>
            </a:pPr>
            <a:r>
              <a:rPr lang="en-US" sz="6600" b="1" kern="0" spc="-231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조사는 전부 손으로 했다</a:t>
            </a:r>
            <a:endParaRPr lang="en-US" sz="6600" dirty="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C87BC8E8-685E-60F8-C213-2E00142550CE}"/>
              </a:ext>
            </a:extLst>
          </p:cNvPr>
          <p:cNvSpPr/>
          <p:nvPr/>
        </p:nvSpPr>
        <p:spPr>
          <a:xfrm>
            <a:off x="736600" y="-6321425"/>
            <a:ext cx="3505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CE095EAF-3719-FD29-5C54-897A34FC58F3}"/>
              </a:ext>
            </a:extLst>
          </p:cNvPr>
          <p:cNvSpPr/>
          <p:nvPr/>
        </p:nvSpPr>
        <p:spPr>
          <a:xfrm>
            <a:off x="1220490" y="-6429375"/>
            <a:ext cx="6340197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검색어를 하나하나 바꿔가며 브라우저에서 검색</a:t>
            </a:r>
            <a:endParaRPr lang="en-US" sz="2325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F2E8DF5F-E510-C1E1-9CDC-124324DFA75B}"/>
              </a:ext>
            </a:extLst>
          </p:cNvPr>
          <p:cNvSpPr/>
          <p:nvPr/>
        </p:nvSpPr>
        <p:spPr>
          <a:xfrm>
            <a:off x="736600" y="-5724525"/>
            <a:ext cx="3505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8DE49B8E-B9CE-F394-0CDD-4913611B4F08}"/>
              </a:ext>
            </a:extLst>
          </p:cNvPr>
          <p:cNvSpPr/>
          <p:nvPr/>
        </p:nvSpPr>
        <p:spPr>
          <a:xfrm>
            <a:off x="1220490" y="-5832475"/>
            <a:ext cx="3968790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후보 URL을 모아 중복을 정리</a:t>
            </a:r>
            <a:endParaRPr lang="en-US" sz="2325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5FF814DF-58D7-C202-2CC0-F22D5A307464}"/>
              </a:ext>
            </a:extLst>
          </p:cNvPr>
          <p:cNvSpPr/>
          <p:nvPr/>
        </p:nvSpPr>
        <p:spPr>
          <a:xfrm>
            <a:off x="736600" y="-5127625"/>
            <a:ext cx="3505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671A6F5F-0859-742A-83A4-01E1791D1D20}"/>
              </a:ext>
            </a:extLst>
          </p:cNvPr>
          <p:cNvSpPr/>
          <p:nvPr/>
        </p:nvSpPr>
        <p:spPr>
          <a:xfrm>
            <a:off x="1220490" y="-5235575"/>
            <a:ext cx="6522135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원문을 비로그인 상태로 열어 실제 노출인지 확인</a:t>
            </a:r>
            <a:endParaRPr lang="en-US" sz="2325" dirty="0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7CA24E0D-0463-82A4-6CFC-06E11BBB010E}"/>
              </a:ext>
            </a:extLst>
          </p:cNvPr>
          <p:cNvSpPr/>
          <p:nvPr/>
        </p:nvSpPr>
        <p:spPr>
          <a:xfrm>
            <a:off x="736600" y="-4530725"/>
            <a:ext cx="3505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8F16F0C9-1334-6CD0-90F8-E6A1C6FD18E0}"/>
              </a:ext>
            </a:extLst>
          </p:cNvPr>
          <p:cNvSpPr/>
          <p:nvPr/>
        </p:nvSpPr>
        <p:spPr>
          <a:xfrm>
            <a:off x="1220490" y="-4638675"/>
            <a:ext cx="6314877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증거를 마스킹하고 유형·심각도·신뢰도를 기록</a:t>
            </a:r>
            <a:endParaRPr lang="en-US" sz="2325" dirty="0"/>
          </a:p>
        </p:txBody>
      </p:sp>
      <p:sp>
        <p:nvSpPr>
          <p:cNvPr id="46" name="Shape 11">
            <a:extLst>
              <a:ext uri="{FF2B5EF4-FFF2-40B4-BE49-F238E27FC236}">
                <a16:creationId xmlns:a16="http://schemas.microsoft.com/office/drawing/2014/main" id="{BC17959C-866C-5438-7E69-35C334017EDC}"/>
              </a:ext>
            </a:extLst>
          </p:cNvPr>
          <p:cNvSpPr/>
          <p:nvPr/>
        </p:nvSpPr>
        <p:spPr>
          <a:xfrm>
            <a:off x="736600" y="-3870325"/>
            <a:ext cx="7620000" cy="9525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BA9C7BAA-9649-7641-9C5A-FC35676B20B8}"/>
              </a:ext>
            </a:extLst>
          </p:cNvPr>
          <p:cNvSpPr/>
          <p:nvPr/>
        </p:nvSpPr>
        <p:spPr>
          <a:xfrm>
            <a:off x="736600" y="-3597275"/>
            <a:ext cx="7848600" cy="9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76"/>
              </a:lnSpc>
              <a:buNone/>
            </a:pPr>
            <a:r>
              <a:rPr lang="en-US" sz="2175" dirty="0">
                <a:solidFill>
                  <a:srgbClr val="6B74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반복되는 URL 정리와 본문 추출은 Python 크롤러로 보조했지만, 탐지와 마스킹, 판정은 매번 처음부터 다시 붙여 써야 했다.</a:t>
            </a:r>
            <a:endParaRPr lang="en-US" sz="2175" dirty="0"/>
          </a:p>
        </p:txBody>
      </p:sp>
      <p:sp>
        <p:nvSpPr>
          <p:cNvPr id="50" name="Shape 13">
            <a:extLst>
              <a:ext uri="{FF2B5EF4-FFF2-40B4-BE49-F238E27FC236}">
                <a16:creationId xmlns:a16="http://schemas.microsoft.com/office/drawing/2014/main" id="{6F75A649-B228-3F28-425B-469D98F636B4}"/>
              </a:ext>
            </a:extLst>
          </p:cNvPr>
          <p:cNvSpPr/>
          <p:nvPr/>
        </p:nvSpPr>
        <p:spPr>
          <a:xfrm>
            <a:off x="9118600" y="-8967986"/>
            <a:ext cx="7620000" cy="6023372"/>
          </a:xfrm>
          <a:prstGeom prst="roundRect">
            <a:avLst>
              <a:gd name="adj" fmla="val 4428"/>
            </a:avLst>
          </a:prstGeom>
          <a:solidFill>
            <a:srgbClr val="FFFFFF"/>
          </a:solidFill>
          <a:ln w="6350">
            <a:solidFill>
              <a:srgbClr val="000000">
                <a:alpha val="7000"/>
              </a:srgbClr>
            </a:solidFill>
            <a:prstDash val="solid"/>
          </a:ln>
          <a:effectLst>
            <a:outerShdw blurRad="857250" dist="381000" dir="5400000" algn="bl" rotWithShape="0">
              <a:srgbClr val="141E28">
                <a:alpha val="5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7299376D-A88D-5027-4DC1-407088A94FC6}"/>
              </a:ext>
            </a:extLst>
          </p:cNvPr>
          <p:cNvSpPr/>
          <p:nvPr/>
        </p:nvSpPr>
        <p:spPr>
          <a:xfrm>
            <a:off x="9734551" y="-8352036"/>
            <a:ext cx="702691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 WE BUILT IT</a:t>
            </a:r>
            <a:endParaRPr lang="en-US" sz="1800" dirty="0"/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287AD047-3293-3AE0-31BF-A095A7F36940}"/>
              </a:ext>
            </a:extLst>
          </p:cNvPr>
          <p:cNvSpPr/>
          <p:nvPr/>
        </p:nvSpPr>
        <p:spPr>
          <a:xfrm>
            <a:off x="9734551" y="-7748786"/>
            <a:ext cx="6579743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76"/>
              </a:lnSpc>
              <a:buNone/>
            </a:pPr>
            <a:r>
              <a:rPr lang="en-US" sz="4800" b="1" kern="0" spc="-168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그 반복을 한 번에 끝내는 도구를 만들었다.</a:t>
            </a:r>
            <a:endParaRPr lang="en-US" sz="4800" dirty="0"/>
          </a:p>
        </p:txBody>
      </p:sp>
      <p:sp>
        <p:nvSpPr>
          <p:cNvPr id="56" name="Text 16">
            <a:extLst>
              <a:ext uri="{FF2B5EF4-FFF2-40B4-BE49-F238E27FC236}">
                <a16:creationId xmlns:a16="http://schemas.microsoft.com/office/drawing/2014/main" id="{31DFEC3A-B167-771B-997F-2BB95C84F020}"/>
              </a:ext>
            </a:extLst>
          </p:cNvPr>
          <p:cNvSpPr/>
          <p:nvPr/>
        </p:nvSpPr>
        <p:spPr>
          <a:xfrm>
            <a:off x="9734551" y="-6042025"/>
            <a:ext cx="6579743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45"/>
              </a:lnSpc>
              <a:buNone/>
            </a:pPr>
            <a:r>
              <a:rPr lang="en-US" sz="2325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URL을 넣으면 페이지를 가져와 규칙과 대조하고, 찾아낸 증거를 가린 상태로 기록까지 남긴다.</a:t>
            </a:r>
            <a:endParaRPr lang="en-US" sz="2325" dirty="0"/>
          </a:p>
        </p:txBody>
      </p:sp>
      <p:sp>
        <p:nvSpPr>
          <p:cNvPr id="58" name="Shape 17">
            <a:extLst>
              <a:ext uri="{FF2B5EF4-FFF2-40B4-BE49-F238E27FC236}">
                <a16:creationId xmlns:a16="http://schemas.microsoft.com/office/drawing/2014/main" id="{0A4AF698-6D7D-E1C1-A3EA-23323CA21A36}"/>
              </a:ext>
            </a:extLst>
          </p:cNvPr>
          <p:cNvSpPr/>
          <p:nvPr/>
        </p:nvSpPr>
        <p:spPr>
          <a:xfrm>
            <a:off x="9734551" y="-4792464"/>
            <a:ext cx="6388100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B139496A-78F1-4945-517C-4ACEFAE901A3}"/>
              </a:ext>
            </a:extLst>
          </p:cNvPr>
          <p:cNvSpPr/>
          <p:nvPr/>
        </p:nvSpPr>
        <p:spPr>
          <a:xfrm>
            <a:off x="9734551" y="-4500364"/>
            <a:ext cx="702691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endParaRPr lang="en-US" sz="1650" dirty="0"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B608D894-EC2D-F14A-F530-57A140052B29}"/>
              </a:ext>
            </a:extLst>
          </p:cNvPr>
          <p:cNvSpPr/>
          <p:nvPr/>
        </p:nvSpPr>
        <p:spPr>
          <a:xfrm>
            <a:off x="9734551" y="-4151114"/>
            <a:ext cx="702691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Swimmmming pool scaNNer</a:t>
            </a:r>
            <a:endParaRPr lang="en-US" sz="3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9917281" cy="127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kern="0" spc="-231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무엇을 찾는가 — 규칙 7개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3592473" y="1593850"/>
            <a:ext cx="39077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RULE SETS · 7 RULES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3000" y="2470150"/>
            <a:ext cx="8951813" cy="7256562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6350">
            <a:solidFill>
              <a:srgbClr val="000000">
                <a:alpha val="7000"/>
              </a:srgbClr>
            </a:solidFill>
            <a:prstDash val="solid"/>
          </a:ln>
          <a:effectLst>
            <a:outerShdw blurRad="666750" dist="285750" dir="5400000" algn="bl" rotWithShape="0">
              <a:srgbClr val="141E2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530350" y="2857500"/>
            <a:ext cx="899482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ai_public_share_exposure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30350" y="3289300"/>
            <a:ext cx="8994825" cy="71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108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공개 공유 페이지 노출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530350" y="4095750"/>
            <a:ext cx="8994825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98"/>
              </a:lnSpc>
              <a:buNone/>
            </a:pPr>
            <a:r>
              <a:rPr lang="en-US" sz="2025" dirty="0">
                <a:solidFill>
                  <a:srgbClr val="6B74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공개된 AI 대화·문서 페이지에 그대로 남은 개인정보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530350" y="4703862"/>
            <a:ext cx="8177114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530350" y="4935637"/>
            <a:ext cx="10363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SEC-001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19090" y="4814987"/>
            <a:ext cx="1636236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 주소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991104" y="4872137"/>
            <a:ext cx="716359" cy="330200"/>
          </a:xfrm>
          <a:prstGeom prst="roundRect">
            <a:avLst>
              <a:gd name="adj" fmla="val 14423"/>
            </a:avLst>
          </a:prstGeom>
          <a:solidFill>
            <a:srgbClr val="B4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095879" y="4919762"/>
            <a:ext cx="583009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1530350" y="5497612"/>
            <a:ext cx="8177114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530350" y="5729387"/>
            <a:ext cx="10363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SEC-002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19090" y="5608737"/>
            <a:ext cx="1197868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전화번호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737799" y="5665887"/>
            <a:ext cx="969665" cy="330200"/>
          </a:xfrm>
          <a:prstGeom prst="roundRect">
            <a:avLst>
              <a:gd name="adj" fmla="val 14423"/>
            </a:avLst>
          </a:prstGeom>
          <a:solidFill>
            <a:srgbClr val="A97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842574" y="5713512"/>
            <a:ext cx="83631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MEDIUM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1530350" y="6291362"/>
            <a:ext cx="8177114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530350" y="6523137"/>
            <a:ext cx="10363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SEC-003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719090" y="6402487"/>
            <a:ext cx="256164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주민등록번호 형태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991104" y="6459637"/>
            <a:ext cx="716359" cy="330200"/>
          </a:xfrm>
          <a:prstGeom prst="roundRect">
            <a:avLst>
              <a:gd name="adj" fmla="val 14423"/>
            </a:avLst>
          </a:prstGeom>
          <a:solidFill>
            <a:srgbClr val="B4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095879" y="6507262"/>
            <a:ext cx="583009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1530350" y="7085112"/>
            <a:ext cx="8177114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530350" y="7316887"/>
            <a:ext cx="10363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SEC-004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719090" y="7196237"/>
            <a:ext cx="2676565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카드번호 </a:t>
            </a:r>
            <a:r>
              <a:rPr lang="en-US" sz="1875" dirty="0">
                <a:solidFill>
                  <a:srgbClr val="8A92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(Luhn 검증)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8991104" y="7253387"/>
            <a:ext cx="716359" cy="330200"/>
          </a:xfrm>
          <a:prstGeom prst="roundRect">
            <a:avLst>
              <a:gd name="adj" fmla="val 14423"/>
            </a:avLst>
          </a:prstGeom>
          <a:solidFill>
            <a:srgbClr val="B4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095879" y="7301012"/>
            <a:ext cx="583009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1530350" y="7878862"/>
            <a:ext cx="8177114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530350" y="8110637"/>
            <a:ext cx="10363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SEC-005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719090" y="7989987"/>
            <a:ext cx="1327805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주소 블록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9117806" y="8047137"/>
            <a:ext cx="589657" cy="330200"/>
          </a:xfrm>
          <a:prstGeom prst="roundRect">
            <a:avLst>
              <a:gd name="adj" fmla="val 14423"/>
            </a:avLst>
          </a:prstGeom>
          <a:solidFill>
            <a:srgbClr val="C9BE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222581" y="8094762"/>
            <a:ext cx="456307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2A261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LOW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1530350" y="9333012"/>
            <a:ext cx="8177114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530350" y="8672612"/>
            <a:ext cx="8177114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530350" y="8904387"/>
            <a:ext cx="10363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SEC-006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719090" y="8783737"/>
            <a:ext cx="368677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문서 표기 (대외비 등)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8737799" y="8840887"/>
            <a:ext cx="969665" cy="330200"/>
          </a:xfrm>
          <a:prstGeom prst="roundRect">
            <a:avLst>
              <a:gd name="adj" fmla="val 14423"/>
            </a:avLst>
          </a:prstGeom>
          <a:solidFill>
            <a:srgbClr val="A97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842574" y="8888512"/>
            <a:ext cx="83631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MEDIUM</a:t>
            </a:r>
            <a:endParaRPr lang="en-US" sz="1425" dirty="0"/>
          </a:p>
        </p:txBody>
      </p:sp>
      <p:sp>
        <p:nvSpPr>
          <p:cNvPr id="39" name="Shape 37"/>
          <p:cNvSpPr/>
          <p:nvPr/>
        </p:nvSpPr>
        <p:spPr>
          <a:xfrm>
            <a:off x="10513914" y="2470150"/>
            <a:ext cx="6631087" cy="4010224"/>
          </a:xfrm>
          <a:prstGeom prst="roundRect">
            <a:avLst>
              <a:gd name="adj" fmla="val 5700"/>
            </a:avLst>
          </a:prstGeom>
          <a:solidFill>
            <a:srgbClr val="FFFFFF"/>
          </a:solidFill>
          <a:ln w="6350">
            <a:solidFill>
              <a:srgbClr val="000000">
                <a:alpha val="7000"/>
              </a:srgbClr>
            </a:solidFill>
            <a:prstDash val="solid"/>
          </a:ln>
          <a:effectLst>
            <a:outerShdw blurRad="666750" dist="285750" dir="5400000" algn="bl" rotWithShape="0">
              <a:srgbClr val="141E2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0977464" y="2933700"/>
            <a:ext cx="627438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hardcoded_secret_detection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977464" y="3422650"/>
            <a:ext cx="6274385" cy="71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108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소스에 박힌 인증정보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10977464" y="4286250"/>
            <a:ext cx="5875106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98"/>
              </a:lnSpc>
              <a:buNone/>
            </a:pPr>
            <a:r>
              <a:rPr lang="en-US" sz="2025" dirty="0">
                <a:solidFill>
                  <a:srgbClr val="6B74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소스나 인라인 스크립트에 그대로 커밋된 키·토큰</a:t>
            </a:r>
            <a:endParaRPr lang="en-US" sz="2025" dirty="0"/>
          </a:p>
        </p:txBody>
      </p:sp>
      <p:sp>
        <p:nvSpPr>
          <p:cNvPr id="43" name="Shape 41"/>
          <p:cNvSpPr/>
          <p:nvPr/>
        </p:nvSpPr>
        <p:spPr>
          <a:xfrm>
            <a:off x="10977464" y="6010473"/>
            <a:ext cx="5703987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0977464" y="5350073"/>
            <a:ext cx="5703987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10977464" y="5581849"/>
            <a:ext cx="10363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SEC-101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166204" y="5461199"/>
            <a:ext cx="2909908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618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키 · 액세스 토큰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15965091" y="5518349"/>
            <a:ext cx="716359" cy="330200"/>
          </a:xfrm>
          <a:prstGeom prst="roundRect">
            <a:avLst>
              <a:gd name="adj" fmla="val 14423"/>
            </a:avLst>
          </a:prstGeom>
          <a:solidFill>
            <a:srgbClr val="B4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16069866" y="5565974"/>
            <a:ext cx="583009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</a:t>
            </a:r>
            <a:endParaRPr lang="en-US" sz="1425" dirty="0"/>
          </a:p>
        </p:txBody>
      </p:sp>
      <p:sp>
        <p:nvSpPr>
          <p:cNvPr id="49" name="Shape 47"/>
          <p:cNvSpPr/>
          <p:nvPr/>
        </p:nvSpPr>
        <p:spPr>
          <a:xfrm>
            <a:off x="10513914" y="6823274"/>
            <a:ext cx="6631087" cy="2602111"/>
          </a:xfrm>
          <a:prstGeom prst="roundRect">
            <a:avLst>
              <a:gd name="adj" fmla="val 8785"/>
            </a:avLst>
          </a:prstGeom>
          <a:ln w="6350">
            <a:solidFill>
              <a:srgbClr val="000000">
                <a:alpha val="16000"/>
              </a:srgbClr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10939364" y="7248724"/>
            <a:ext cx="635820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SO FEW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0939364" y="7674173"/>
            <a:ext cx="5953592" cy="1363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76"/>
              </a:lnSpc>
              <a:buNone/>
            </a:pPr>
            <a:r>
              <a:rPr lang="en-US" sz="2175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규칙은 적지만, 조사에서 실제로 반복해 걸린 유형만 골라 넣었다. 규칙은 JSON 파일이라 추가는 파일 한 줄로 끝난다.</a:t>
            </a:r>
            <a:endParaRPr lang="en-US" sz="21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EDF2F6">
                  <a:alpha val="100000"/>
                </a:srgbClr>
              </a:gs>
              <a:gs pos="55000">
                <a:srgbClr val="F8F9FA">
                  <a:alpha val="100000"/>
                </a:srgbClr>
              </a:gs>
              <a:gs pos="100000">
                <a:srgbClr val="E7EDF3">
                  <a:alpha val="100000"/>
                </a:srgbClr>
              </a:gs>
            </a:gsLst>
            <a:lin ang="36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02 — 스캐너가 지키는 원칙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695450"/>
            <a:ext cx="16482060" cy="1825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185"/>
              </a:lnSpc>
              <a:buNone/>
            </a:pPr>
            <a:r>
              <a:rPr lang="en-US" sz="6900" b="1" kern="0" spc="-241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찾은 값은 스캐너 밖으로 나가지 않는다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1143000" y="3940175"/>
            <a:ext cx="8142486" cy="5865912"/>
          </a:xfrm>
          <a:prstGeom prst="roundRect">
            <a:avLst>
              <a:gd name="adj" fmla="val 3897"/>
            </a:avLst>
          </a:prstGeom>
          <a:solidFill>
            <a:srgbClr val="FFFFFF"/>
          </a:solidFill>
          <a:ln w="6350">
            <a:solidFill>
              <a:srgbClr val="000000">
                <a:alpha val="7000"/>
              </a:srgbClr>
            </a:solidFill>
            <a:prstDash val="solid"/>
          </a:ln>
          <a:effectLst>
            <a:outerShdw blurRad="666750" dist="285750" dir="5400000" algn="bl" rotWithShape="0">
              <a:srgbClr val="141E2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644650" y="4441825"/>
            <a:ext cx="785310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 — MASKED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644650" y="4981575"/>
            <a:ext cx="785310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61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ncp_ak_9F3*******************c21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644650" y="5572125"/>
            <a:ext cx="785310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61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ji***@kyu******.co.kr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644650" y="6162675"/>
            <a:ext cx="785310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61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5310-****-****-8842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644650" y="6753225"/>
            <a:ext cx="785310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61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010-****-3391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644650" y="7439025"/>
            <a:ext cx="7139186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644650" y="7712075"/>
            <a:ext cx="7353362" cy="9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76"/>
              </a:lnSpc>
              <a:buNone/>
            </a:pPr>
            <a:r>
              <a:rPr lang="en-US" sz="2175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규칙에 걸린 순간 값을 가린다. 가리기 전의 원본은 API 응답, 로그, 저장 파일 어디에도 남지 않는다.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9742686" y="3940175"/>
            <a:ext cx="7402314" cy="3419971"/>
          </a:xfrm>
          <a:prstGeom prst="roundRect">
            <a:avLst>
              <a:gd name="adj" fmla="val 6684"/>
            </a:avLst>
          </a:prstGeom>
          <a:solidFill>
            <a:srgbClr val="FFFFFF"/>
          </a:solidFill>
          <a:ln w="6350">
            <a:solidFill>
              <a:srgbClr val="000000">
                <a:alpha val="7000"/>
              </a:srgbClr>
            </a:solidFill>
            <a:prstDash val="solid"/>
          </a:ln>
          <a:effectLst>
            <a:outerShdw blurRad="666750" dist="285750" dir="5400000" algn="bl" rotWithShape="0">
              <a:srgbClr val="141E2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206236" y="4403725"/>
            <a:ext cx="712273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 DOWNGRADE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0206236" y="4918075"/>
            <a:ext cx="834430" cy="406400"/>
          </a:xfrm>
          <a:prstGeom prst="roundRect">
            <a:avLst>
              <a:gd name="adj" fmla="val 14063"/>
            </a:avLst>
          </a:prstGeom>
          <a:solidFill>
            <a:srgbClr val="B4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330061" y="4984750"/>
            <a:ext cx="66298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231166" y="4886325"/>
            <a:ext cx="40005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8A92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1745516" y="4918075"/>
            <a:ext cx="1127820" cy="406400"/>
          </a:xfrm>
          <a:prstGeom prst="roundRect">
            <a:avLst>
              <a:gd name="adj" fmla="val 14063"/>
            </a:avLst>
          </a:prstGeom>
          <a:solidFill>
            <a:srgbClr val="A97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1869341" y="4984750"/>
            <a:ext cx="95637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MEDIUM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206236" y="5565775"/>
            <a:ext cx="6669470" cy="1368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76"/>
              </a:lnSpc>
              <a:buNone/>
            </a:pPr>
            <a:r>
              <a:rPr lang="en-US" sz="1950" dirty="0">
                <a:solidFill>
                  <a:srgbClr val="3D46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example.com</a:t>
            </a:r>
            <a:r>
              <a:rPr lang="en-US" sz="2175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950" dirty="0">
                <a:solidFill>
                  <a:srgbClr val="3D46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Sample St.</a:t>
            </a:r>
            <a:r>
              <a:rPr lang="en-US" sz="2175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950" dirty="0">
                <a:solidFill>
                  <a:srgbClr val="3D46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Anytown </a:t>
            </a:r>
            <a:r>
              <a:rPr lang="en-US" sz="2175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처럼 예시·더미로 보이는 값이면 심각도를 정확히 한 단계 내린다. 조사에서 오탐을 걸러냈던 기준을 그대로 옮겼다.</a:t>
            </a:r>
            <a:endParaRPr lang="en-US" sz="2175" dirty="0"/>
          </a:p>
        </p:txBody>
      </p:sp>
      <p:sp>
        <p:nvSpPr>
          <p:cNvPr id="21" name="Shape 19"/>
          <p:cNvSpPr/>
          <p:nvPr/>
        </p:nvSpPr>
        <p:spPr>
          <a:xfrm>
            <a:off x="9742686" y="7664946"/>
            <a:ext cx="7402314" cy="2141141"/>
          </a:xfrm>
          <a:prstGeom prst="roundRect">
            <a:avLst>
              <a:gd name="adj" fmla="val 10677"/>
            </a:avLst>
          </a:prstGeom>
          <a:ln w="6350">
            <a:solidFill>
              <a:srgbClr val="000000">
                <a:alpha val="16000"/>
              </a:srgbClr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168136" y="8090396"/>
            <a:ext cx="720655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STILL HUMAN WORK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168136" y="8496796"/>
            <a:ext cx="6747956" cy="9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76"/>
              </a:lnSpc>
              <a:buNone/>
            </a:pPr>
            <a:r>
              <a:rPr lang="en-US" sz="2175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판정은 여전히 사람이 한다. 스캐너는 후보를 좁히고 근거를 정리해 주는 역할이다.</a:t>
            </a:r>
            <a:endParaRPr lang="en-US" sz="2175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62AC6D24-1658-AA7C-294B-53450C1D2E86}"/>
              </a:ext>
            </a:extLst>
          </p:cNvPr>
          <p:cNvSpPr/>
          <p:nvPr/>
        </p:nvSpPr>
        <p:spPr>
          <a:xfrm>
            <a:off x="914400" y="11290300"/>
            <a:ext cx="676289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03 — 데모 01 · HOME</a:t>
            </a:r>
            <a:endParaRPr lang="en-US" sz="180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4D87DAE5-8D66-B81E-E9CA-763929384B53}"/>
              </a:ext>
            </a:extLst>
          </p:cNvPr>
          <p:cNvSpPr/>
          <p:nvPr/>
        </p:nvSpPr>
        <p:spPr>
          <a:xfrm>
            <a:off x="914400" y="11722100"/>
            <a:ext cx="6762899" cy="1041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89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URL 하나로 시작한다</a:t>
            </a:r>
            <a:endParaRPr lang="en-US" sz="5400" dirty="0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DAF916C7-CA8C-429B-FCC0-CD763C6512FF}"/>
              </a:ext>
            </a:extLst>
          </p:cNvPr>
          <p:cNvSpPr/>
          <p:nvPr/>
        </p:nvSpPr>
        <p:spPr>
          <a:xfrm>
            <a:off x="10506075" y="11898709"/>
            <a:ext cx="6867525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6721"/>
              </a:lnSpc>
              <a:buNone/>
            </a:pPr>
            <a:r>
              <a:rPr lang="en-US" sz="2100" dirty="0">
                <a:solidFill>
                  <a:srgbClr val="5A65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타겟 세 개, 마지막 스캔 기록, 현재 무장된 규칙 7개가 첫 화면에 함께 보인다.</a:t>
            </a:r>
            <a:endParaRPr lang="en-US" sz="2100" dirty="0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245AE106-2A7D-6363-E4E6-06FB6E045942}"/>
              </a:ext>
            </a:extLst>
          </p:cNvPr>
          <p:cNvSpPr/>
          <p:nvPr/>
        </p:nvSpPr>
        <p:spPr>
          <a:xfrm>
            <a:off x="914400" y="13049250"/>
            <a:ext cx="16459200" cy="7004050"/>
          </a:xfrm>
          <a:prstGeom prst="roundRect">
            <a:avLst>
              <a:gd name="adj" fmla="val 2720"/>
            </a:avLst>
          </a:prstGeom>
          <a:solidFill>
            <a:srgbClr val="FFFFFF"/>
          </a:solidFill>
          <a:ln w="6350">
            <a:solidFill>
              <a:srgbClr val="000000">
                <a:alpha val="8000"/>
              </a:srgbClr>
            </a:solidFill>
            <a:prstDash val="solid"/>
          </a:ln>
          <a:effectLst>
            <a:outerShdw blurRad="857250" dist="381000" dir="5400000" algn="bl" rotWithShape="0">
              <a:srgbClr val="141E28">
                <a:alpha val="5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1D38603C-6697-9BA3-730C-94FEE1569D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0388" r="-20388"/>
          <a:stretch/>
        </p:blipFill>
        <p:spPr>
          <a:xfrm>
            <a:off x="920750" y="13055600"/>
            <a:ext cx="16446501" cy="6991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900"/>
            <a:ext cx="676289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03 — 데모 01 · HOME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55700"/>
            <a:ext cx="6762899" cy="1041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89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URL 하나로 시작한다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506075" y="1332309"/>
            <a:ext cx="6867525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6721"/>
              </a:lnSpc>
              <a:buNone/>
            </a:pPr>
            <a:r>
              <a:rPr lang="en-US" sz="2100" dirty="0">
                <a:solidFill>
                  <a:srgbClr val="5A65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타겟 세 개, 마지막 스캔 기록, 현재 무장된 규칙 7개가 첫 화면에 함께 보인다.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2482850"/>
            <a:ext cx="16459200" cy="7004050"/>
          </a:xfrm>
          <a:prstGeom prst="roundRect">
            <a:avLst>
              <a:gd name="adj" fmla="val 2720"/>
            </a:avLst>
          </a:prstGeom>
          <a:solidFill>
            <a:srgbClr val="FFFFFF"/>
          </a:solidFill>
          <a:ln w="6350">
            <a:solidFill>
              <a:srgbClr val="000000">
                <a:alpha val="8000"/>
              </a:srgbClr>
            </a:solidFill>
            <a:prstDash val="solid"/>
          </a:ln>
          <a:effectLst>
            <a:outerShdw blurRad="857250" dist="381000" dir="5400000" algn="bl" rotWithShape="0">
              <a:srgbClr val="141E28">
                <a:alpha val="5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388" r="-20388"/>
          <a:stretch/>
        </p:blipFill>
        <p:spPr>
          <a:xfrm>
            <a:off x="920750" y="2489200"/>
            <a:ext cx="16446501" cy="699135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93C0CB8C-7FAE-ED21-173D-B852766155ED}"/>
              </a:ext>
            </a:extLst>
          </p:cNvPr>
          <p:cNvSpPr/>
          <p:nvPr/>
        </p:nvSpPr>
        <p:spPr>
          <a:xfrm>
            <a:off x="0" y="-12090400"/>
            <a:ext cx="18288000" cy="10287000"/>
          </a:xfrm>
          <a:prstGeom prst="rect">
            <a:avLst/>
          </a:prstGeom>
          <a:gradFill rotWithShape="1">
            <a:gsLst>
              <a:gs pos="0">
                <a:srgbClr val="EDF2F6">
                  <a:alpha val="100000"/>
                </a:srgbClr>
              </a:gs>
              <a:gs pos="55000">
                <a:srgbClr val="F8F9FA">
                  <a:alpha val="100000"/>
                </a:srgbClr>
              </a:gs>
              <a:gs pos="100000">
                <a:srgbClr val="E7EDF3">
                  <a:alpha val="100000"/>
                </a:srgbClr>
              </a:gs>
            </a:gsLst>
            <a:lin ang="3600000" scaled="0"/>
          </a:gra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E3A15E48-E6A7-E453-3922-2467D6710B1D}"/>
              </a:ext>
            </a:extLst>
          </p:cNvPr>
          <p:cNvSpPr/>
          <p:nvPr/>
        </p:nvSpPr>
        <p:spPr>
          <a:xfrm>
            <a:off x="1143000" y="-1117600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02 — 스캐너가 지키는 원칙</a:t>
            </a:r>
            <a:endParaRPr lang="en-US" sz="195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C7C99F30-F430-E957-011D-DCE9DFC696BC}"/>
              </a:ext>
            </a:extLst>
          </p:cNvPr>
          <p:cNvSpPr/>
          <p:nvPr/>
        </p:nvSpPr>
        <p:spPr>
          <a:xfrm>
            <a:off x="1143000" y="-10394950"/>
            <a:ext cx="16482060" cy="1825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185"/>
              </a:lnSpc>
              <a:buNone/>
            </a:pPr>
            <a:r>
              <a:rPr lang="en-US" sz="6900" b="1" kern="0" spc="-241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찾은 값은 스캐너 밖으로 나가지 않는다</a:t>
            </a:r>
            <a:endParaRPr lang="en-US" sz="69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149ED9DD-79E0-D921-8288-C01BE7DF6480}"/>
              </a:ext>
            </a:extLst>
          </p:cNvPr>
          <p:cNvSpPr/>
          <p:nvPr/>
        </p:nvSpPr>
        <p:spPr>
          <a:xfrm>
            <a:off x="1143000" y="-8150225"/>
            <a:ext cx="8142486" cy="5865912"/>
          </a:xfrm>
          <a:prstGeom prst="roundRect">
            <a:avLst>
              <a:gd name="adj" fmla="val 3897"/>
            </a:avLst>
          </a:prstGeom>
          <a:solidFill>
            <a:srgbClr val="FFFFFF"/>
          </a:solidFill>
          <a:ln w="6350">
            <a:solidFill>
              <a:srgbClr val="000000">
                <a:alpha val="7000"/>
              </a:srgbClr>
            </a:solidFill>
            <a:prstDash val="solid"/>
          </a:ln>
          <a:effectLst>
            <a:outerShdw blurRad="666750" dist="285750" dir="5400000" algn="bl" rotWithShape="0">
              <a:srgbClr val="141E2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C032C138-561D-5B86-D99E-6320EFA643EF}"/>
              </a:ext>
            </a:extLst>
          </p:cNvPr>
          <p:cNvSpPr/>
          <p:nvPr/>
        </p:nvSpPr>
        <p:spPr>
          <a:xfrm>
            <a:off x="1644650" y="-7648575"/>
            <a:ext cx="785310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 — MASKED</a:t>
            </a:r>
            <a:endParaRPr lang="en-US" sz="165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D82B68B7-D295-55DF-08B6-C72EDF3E7E94}"/>
              </a:ext>
            </a:extLst>
          </p:cNvPr>
          <p:cNvSpPr/>
          <p:nvPr/>
        </p:nvSpPr>
        <p:spPr>
          <a:xfrm>
            <a:off x="1644650" y="-7108825"/>
            <a:ext cx="785310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61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ncp_ak_9F3*******************c21</a:t>
            </a:r>
            <a:endParaRPr lang="en-US" sz="255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F80FE34A-A2C8-9D07-64F0-2C9AD5103289}"/>
              </a:ext>
            </a:extLst>
          </p:cNvPr>
          <p:cNvSpPr/>
          <p:nvPr/>
        </p:nvSpPr>
        <p:spPr>
          <a:xfrm>
            <a:off x="1644650" y="-6518275"/>
            <a:ext cx="785310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61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ji***@kyu******.co.kr</a:t>
            </a:r>
            <a:endParaRPr lang="en-US" sz="255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26ACE5E5-F00E-A388-7694-F95BB419A6BF}"/>
              </a:ext>
            </a:extLst>
          </p:cNvPr>
          <p:cNvSpPr/>
          <p:nvPr/>
        </p:nvSpPr>
        <p:spPr>
          <a:xfrm>
            <a:off x="1644650" y="-5927725"/>
            <a:ext cx="785310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61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5310-****-****-8842</a:t>
            </a:r>
            <a:endParaRPr lang="en-US" sz="255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0BAEF887-474B-BF2D-C4B6-7EB74721289C}"/>
              </a:ext>
            </a:extLst>
          </p:cNvPr>
          <p:cNvSpPr/>
          <p:nvPr/>
        </p:nvSpPr>
        <p:spPr>
          <a:xfrm>
            <a:off x="1644650" y="-5337175"/>
            <a:ext cx="785310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618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010-****-3391</a:t>
            </a:r>
            <a:endParaRPr lang="en-US" sz="2550" dirty="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732A9AB3-05BA-9ABF-975B-244C4FAFCBE8}"/>
              </a:ext>
            </a:extLst>
          </p:cNvPr>
          <p:cNvSpPr/>
          <p:nvPr/>
        </p:nvSpPr>
        <p:spPr>
          <a:xfrm>
            <a:off x="1644650" y="-4651375"/>
            <a:ext cx="7139186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7F75213C-768F-E2ED-658D-3255747897B6}"/>
              </a:ext>
            </a:extLst>
          </p:cNvPr>
          <p:cNvSpPr/>
          <p:nvPr/>
        </p:nvSpPr>
        <p:spPr>
          <a:xfrm>
            <a:off x="1644650" y="-4378325"/>
            <a:ext cx="7353362" cy="9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76"/>
              </a:lnSpc>
              <a:buNone/>
            </a:pPr>
            <a:r>
              <a:rPr lang="en-US" sz="2175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규칙에 걸린 순간 값을 가린다. 가리기 전의 원본은 API 응답, 로그, 저장 파일 어디에도 남지 않는다.</a:t>
            </a:r>
            <a:endParaRPr lang="en-US" sz="2175" dirty="0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AAF88461-300E-AC92-3692-65048FBA87B4}"/>
              </a:ext>
            </a:extLst>
          </p:cNvPr>
          <p:cNvSpPr/>
          <p:nvPr/>
        </p:nvSpPr>
        <p:spPr>
          <a:xfrm>
            <a:off x="9742686" y="-8150225"/>
            <a:ext cx="7402314" cy="3419971"/>
          </a:xfrm>
          <a:prstGeom prst="roundRect">
            <a:avLst>
              <a:gd name="adj" fmla="val 6684"/>
            </a:avLst>
          </a:prstGeom>
          <a:solidFill>
            <a:srgbClr val="FFFFFF"/>
          </a:solidFill>
          <a:ln w="6350">
            <a:solidFill>
              <a:srgbClr val="000000">
                <a:alpha val="7000"/>
              </a:srgbClr>
            </a:solidFill>
            <a:prstDash val="solid"/>
          </a:ln>
          <a:effectLst>
            <a:outerShdw blurRad="666750" dist="285750" dir="5400000" algn="bl" rotWithShape="0">
              <a:srgbClr val="141E28">
                <a:alpha val="5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B2A6634D-B17E-67CD-437C-A385B23C1515}"/>
              </a:ext>
            </a:extLst>
          </p:cNvPr>
          <p:cNvSpPr/>
          <p:nvPr/>
        </p:nvSpPr>
        <p:spPr>
          <a:xfrm>
            <a:off x="10206236" y="-7686675"/>
            <a:ext cx="712273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CONFIDENCE DOWNGRADE</a:t>
            </a:r>
            <a:endParaRPr lang="en-US" sz="1650" dirty="0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95745950-4D92-C821-1154-D3C7E78F6805}"/>
              </a:ext>
            </a:extLst>
          </p:cNvPr>
          <p:cNvSpPr/>
          <p:nvPr/>
        </p:nvSpPr>
        <p:spPr>
          <a:xfrm>
            <a:off x="10206236" y="-7172325"/>
            <a:ext cx="834430" cy="406400"/>
          </a:xfrm>
          <a:prstGeom prst="roundRect">
            <a:avLst>
              <a:gd name="adj" fmla="val 14063"/>
            </a:avLst>
          </a:prstGeom>
          <a:solidFill>
            <a:srgbClr val="B4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0CCB730B-B6A2-78C4-D13F-F4CA230D6B32}"/>
              </a:ext>
            </a:extLst>
          </p:cNvPr>
          <p:cNvSpPr/>
          <p:nvPr/>
        </p:nvSpPr>
        <p:spPr>
          <a:xfrm>
            <a:off x="10330061" y="-7105650"/>
            <a:ext cx="66298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</a:t>
            </a:r>
            <a:endParaRPr lang="en-US" sz="1650" dirty="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EAD39922-F368-9B53-27D9-9BFE5DBBF24E}"/>
              </a:ext>
            </a:extLst>
          </p:cNvPr>
          <p:cNvSpPr/>
          <p:nvPr/>
        </p:nvSpPr>
        <p:spPr>
          <a:xfrm>
            <a:off x="11231166" y="-7204075"/>
            <a:ext cx="40005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8A92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550" dirty="0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D9D4B995-8FFD-D655-221D-7B390938CFE4}"/>
              </a:ext>
            </a:extLst>
          </p:cNvPr>
          <p:cNvSpPr/>
          <p:nvPr/>
        </p:nvSpPr>
        <p:spPr>
          <a:xfrm>
            <a:off x="11745516" y="-7172325"/>
            <a:ext cx="1127820" cy="406400"/>
          </a:xfrm>
          <a:prstGeom prst="roundRect">
            <a:avLst>
              <a:gd name="adj" fmla="val 14063"/>
            </a:avLst>
          </a:prstGeom>
          <a:solidFill>
            <a:srgbClr val="A97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CAEA91E1-4FDB-0641-8515-C1122B269B5B}"/>
              </a:ext>
            </a:extLst>
          </p:cNvPr>
          <p:cNvSpPr/>
          <p:nvPr/>
        </p:nvSpPr>
        <p:spPr>
          <a:xfrm>
            <a:off x="11869341" y="-7105650"/>
            <a:ext cx="95637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MEDIUM</a:t>
            </a:r>
            <a:endParaRPr lang="en-US" sz="1650" dirty="0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7568DE52-EAEC-8B1F-09B2-E372FE7CF57E}"/>
              </a:ext>
            </a:extLst>
          </p:cNvPr>
          <p:cNvSpPr/>
          <p:nvPr/>
        </p:nvSpPr>
        <p:spPr>
          <a:xfrm>
            <a:off x="10206236" y="-6524625"/>
            <a:ext cx="6669470" cy="1368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76"/>
              </a:lnSpc>
              <a:buNone/>
            </a:pPr>
            <a:r>
              <a:rPr lang="en-US" sz="1950" dirty="0">
                <a:solidFill>
                  <a:srgbClr val="3D46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example.com</a:t>
            </a:r>
            <a:r>
              <a:rPr lang="en-US" sz="2175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950" dirty="0">
                <a:solidFill>
                  <a:srgbClr val="3D46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Sample St.</a:t>
            </a:r>
            <a:r>
              <a:rPr lang="en-US" sz="2175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950" dirty="0">
                <a:solidFill>
                  <a:srgbClr val="3D46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Anytown </a:t>
            </a:r>
            <a:r>
              <a:rPr lang="en-US" sz="2175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처럼 예시·더미로 보이는 값이면 심각도를 정확히 한 단계 내린다. 조사에서 오탐을 걸러냈던 기준을 그대로 옮겼다.</a:t>
            </a:r>
            <a:endParaRPr lang="en-US" sz="2175" dirty="0"/>
          </a:p>
        </p:txBody>
      </p:sp>
      <p:sp>
        <p:nvSpPr>
          <p:cNvPr id="46" name="Shape 19">
            <a:extLst>
              <a:ext uri="{FF2B5EF4-FFF2-40B4-BE49-F238E27FC236}">
                <a16:creationId xmlns:a16="http://schemas.microsoft.com/office/drawing/2014/main" id="{847AE1CD-4B64-079C-576F-1C50B9DCF03E}"/>
              </a:ext>
            </a:extLst>
          </p:cNvPr>
          <p:cNvSpPr/>
          <p:nvPr/>
        </p:nvSpPr>
        <p:spPr>
          <a:xfrm>
            <a:off x="9742686" y="-4425454"/>
            <a:ext cx="7402314" cy="2141141"/>
          </a:xfrm>
          <a:prstGeom prst="roundRect">
            <a:avLst>
              <a:gd name="adj" fmla="val 10677"/>
            </a:avLst>
          </a:prstGeom>
          <a:ln w="6350">
            <a:solidFill>
              <a:srgbClr val="000000">
                <a:alpha val="16000"/>
              </a:srgbClr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4B94252F-F348-318E-3336-43525C99A614}"/>
              </a:ext>
            </a:extLst>
          </p:cNvPr>
          <p:cNvSpPr/>
          <p:nvPr/>
        </p:nvSpPr>
        <p:spPr>
          <a:xfrm>
            <a:off x="10168136" y="-4000004"/>
            <a:ext cx="720655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A2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STILL HUMAN WORK</a:t>
            </a:r>
            <a:endParaRPr lang="en-US" sz="165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1D58131F-FB68-E116-6DFF-9F2FBD647534}"/>
              </a:ext>
            </a:extLst>
          </p:cNvPr>
          <p:cNvSpPr/>
          <p:nvPr/>
        </p:nvSpPr>
        <p:spPr>
          <a:xfrm>
            <a:off x="10168136" y="-3593604"/>
            <a:ext cx="6747956" cy="9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76"/>
              </a:lnSpc>
              <a:buNone/>
            </a:pPr>
            <a:r>
              <a:rPr lang="en-US" sz="2175" dirty="0">
                <a:solidFill>
                  <a:srgbClr val="3D46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판정은 여전히 사람이 한다. 스캐너는 후보를 좁히고 근거를 정리해 주는 역할이다.</a:t>
            </a:r>
            <a:endParaRPr lang="en-US" sz="2175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900"/>
            <a:ext cx="645905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03 — 데모 02 · RULE SETS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55700"/>
            <a:ext cx="6459051" cy="1041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89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무엇을 찾을지 고른다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506075" y="1332309"/>
            <a:ext cx="6867525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6721"/>
              </a:lnSpc>
              <a:buNone/>
            </a:pPr>
            <a:r>
              <a:rPr lang="en-US" sz="2100" dirty="0">
                <a:solidFill>
                  <a:srgbClr val="5A65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규칙셋 두 개, 규칙 일곱 개. 각 규칙의 기본 심각도가 배지로 표시된다.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2482850"/>
            <a:ext cx="16459200" cy="7004050"/>
          </a:xfrm>
          <a:prstGeom prst="roundRect">
            <a:avLst>
              <a:gd name="adj" fmla="val 2720"/>
            </a:avLst>
          </a:prstGeom>
          <a:solidFill>
            <a:srgbClr val="FFFFFF"/>
          </a:solidFill>
          <a:ln w="6350">
            <a:solidFill>
              <a:srgbClr val="000000">
                <a:alpha val="8000"/>
              </a:srgbClr>
            </a:solidFill>
            <a:prstDash val="solid"/>
          </a:ln>
          <a:effectLst>
            <a:outerShdw blurRad="857250" dist="381000" dir="5400000" algn="bl" rotWithShape="0">
              <a:srgbClr val="141E28">
                <a:alpha val="5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3963" r="-13963"/>
          <a:stretch/>
        </p:blipFill>
        <p:spPr>
          <a:xfrm>
            <a:off x="920750" y="2489200"/>
            <a:ext cx="16446501" cy="6991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900"/>
            <a:ext cx="891155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03 — 데모 03 · SCANNING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55700"/>
            <a:ext cx="8911551" cy="1041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89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가져오고, 추출하고, 대조한다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506075" y="1332309"/>
            <a:ext cx="6867525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6721"/>
              </a:lnSpc>
              <a:buNone/>
            </a:pPr>
            <a:r>
              <a:rPr lang="en-US" sz="2100" dirty="0">
                <a:solidFill>
                  <a:srgbClr val="5A65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진행률과 실행 로그가 그대로 보이고, 심각도별 건수가 쌓인다.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2482850"/>
            <a:ext cx="16459200" cy="7004050"/>
          </a:xfrm>
          <a:prstGeom prst="roundRect">
            <a:avLst>
              <a:gd name="adj" fmla="val 2720"/>
            </a:avLst>
          </a:prstGeom>
          <a:solidFill>
            <a:srgbClr val="FFFFFF"/>
          </a:solidFill>
          <a:ln w="6350">
            <a:solidFill>
              <a:srgbClr val="000000">
                <a:alpha val="8000"/>
              </a:srgbClr>
            </a:solidFill>
            <a:prstDash val="solid"/>
          </a:ln>
          <a:effectLst>
            <a:outerShdw blurRad="857250" dist="381000" dir="5400000" algn="bl" rotWithShape="0">
              <a:srgbClr val="141E28">
                <a:alpha val="5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2115" r="-12115"/>
          <a:stretch/>
        </p:blipFill>
        <p:spPr>
          <a:xfrm>
            <a:off x="920750" y="2489200"/>
            <a:ext cx="16446501" cy="6991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900"/>
            <a:ext cx="894625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03 — 데모 04 · RESULTS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55700"/>
            <a:ext cx="8946257" cy="1041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89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8건, 증거는 이미 가려진 상태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506075" y="1332309"/>
            <a:ext cx="6867525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6721"/>
              </a:lnSpc>
              <a:buNone/>
            </a:pPr>
            <a:r>
              <a:rPr lang="en-US" sz="2100" dirty="0">
                <a:solidFill>
                  <a:srgbClr val="5A65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심각도와 규칙셋으로 필터한다. 표에 들어오는 값은 처음부터 마스킹된 형태다.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2482850"/>
            <a:ext cx="16459200" cy="7004050"/>
          </a:xfrm>
          <a:prstGeom prst="roundRect">
            <a:avLst>
              <a:gd name="adj" fmla="val 2720"/>
            </a:avLst>
          </a:prstGeom>
          <a:solidFill>
            <a:srgbClr val="FFFFFF"/>
          </a:solidFill>
          <a:ln w="6350">
            <a:solidFill>
              <a:srgbClr val="000000">
                <a:alpha val="8000"/>
              </a:srgbClr>
            </a:solidFill>
            <a:prstDash val="solid"/>
          </a:ln>
          <a:effectLst>
            <a:outerShdw blurRad="857250" dist="381000" dir="5400000" algn="bl" rotWithShape="0">
              <a:srgbClr val="141E28">
                <a:alpha val="5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5503" r="-15503"/>
          <a:stretch/>
        </p:blipFill>
        <p:spPr>
          <a:xfrm>
            <a:off x="920750" y="2489200"/>
            <a:ext cx="16446501" cy="6991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23900"/>
            <a:ext cx="757665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8A92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 03 — 데모 05 · DETAIL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55700"/>
            <a:ext cx="7576652" cy="1041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89" dirty="0">
                <a:solidFill>
                  <a:srgbClr val="1618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왜 위험하고, 무엇을 할지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506075" y="1332309"/>
            <a:ext cx="6867525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6721"/>
              </a:lnSpc>
              <a:buNone/>
            </a:pPr>
            <a:r>
              <a:rPr lang="en-US" sz="2100" dirty="0">
                <a:solidFill>
                  <a:srgbClr val="5A65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마스킹된 증거, 신뢰도, 스캔 시각, 그리고 권장 조치까지 한 패널에 담긴다.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2482850"/>
            <a:ext cx="16459200" cy="7004050"/>
          </a:xfrm>
          <a:prstGeom prst="roundRect">
            <a:avLst>
              <a:gd name="adj" fmla="val 2720"/>
            </a:avLst>
          </a:prstGeom>
          <a:solidFill>
            <a:srgbClr val="FFFFFF"/>
          </a:solidFill>
          <a:ln w="6350">
            <a:solidFill>
              <a:srgbClr val="000000">
                <a:alpha val="8000"/>
              </a:srgbClr>
            </a:solidFill>
            <a:prstDash val="solid"/>
          </a:ln>
          <a:effectLst>
            <a:outerShdw blurRad="857250" dist="381000" dir="5400000" algn="bl" rotWithShape="0">
              <a:srgbClr val="141E28">
                <a:alpha val="5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5926" r="-15926"/>
          <a:stretch/>
        </p:blipFill>
        <p:spPr>
          <a:xfrm>
            <a:off x="920750" y="2489200"/>
            <a:ext cx="16446501" cy="6991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1543</Words>
  <Application>Microsoft Office PowerPoint</Application>
  <PresentationFormat>사용자 지정</PresentationFormat>
  <Paragraphs>240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Noto Sans KR</vt:lpstr>
      <vt:lpstr>Arial</vt:lpstr>
      <vt:lpstr>Helvetica</vt:lpstr>
      <vt:lpstr>IBM Plex Mono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수영 김</cp:lastModifiedBy>
  <cp:revision>2</cp:revision>
  <dcterms:created xsi:type="dcterms:W3CDTF">2026-08-28T03:47:03Z</dcterms:created>
  <dcterms:modified xsi:type="dcterms:W3CDTF">2026-08-28T07:15:14Z</dcterms:modified>
</cp:coreProperties>
</file>